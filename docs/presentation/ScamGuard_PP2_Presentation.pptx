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7"/>
    <p:sldId id="260" r:id="rId8"/>
    <p:sldId id="261" r:id="rId9"/>
    <p:sldId id="274" r:id="rId22"/>
    <p:sldId id="262" r:id="rId10"/>
    <p:sldId id="275" r:id="rId23"/>
    <p:sldId id="263" r:id="rId11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71" r:id="rId12"/>
    <p:sldId id="272" r:id="rId14"/>
    <p:sldId id="27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B3DCA-6C69-493F-A03F-730B73AF939C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73D98-6EB4-47AB-B8AD-321247136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773D98-6EB4-47AB-B8AD-3212471361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6495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D053B-DB25-42F1-B33E-51C5461C46A9}" type="datetime1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50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6D68-3A98-4768-BEB1-0E39A68F7DAF}" type="datetime1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06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19B8D-7C8B-4C09-8C81-B7618A26281B}" type="datetime1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23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1243-2A31-40D0-82A9-4633E98CD668}" type="datetime1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87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8B6-BEBE-496B-96D0-368D09DCCB20}" type="datetime1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36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2FCAC-BA60-4A9D-8B57-B43241027BFA}" type="datetime1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91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2F7E5-E74A-4039-AC79-014909648B60}" type="datetime1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67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3D454-FC22-4AEF-8FE5-CDB95241981A}" type="datetime1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74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514F6-6C18-4B7B-8FAD-C5CC9F79863A}" type="datetime1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331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A17D8-EAAF-4E31-8D25-AF62D001CE1A}" type="datetime1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10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BE0C-91C3-4274-B780-21302860085B}" type="datetime1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4646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64F45-E5F6-4A15-9110-C8AC5BB2A39E}" type="datetime1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Title of the Project                         Department of CSE, BSMCE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E0BF8-4B7D-46FA-B28A-DDF089F57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57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900000"/>
            <a:ext cx="10515600" cy="1500000"/>
          </a:xfrm>
        </p:spPr>
        <p:txBody>
          <a:bodyPr wrap="square">
            <a:no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4000" b="1">
                <a:solidFill>
                  <a:srgbClr val="1F2A44"/>
                </a:solidFill>
                <a:latin typeface="Times New Roman"/>
                <a:cs typeface="Times New Roman"/>
              </a:rPr>
              <a:t>ScamGuard: AI-Based Online Scam</a:t>
            </a:r>
            <a:endParaRPr lang="en-IN" sz="2400" dirty="0">
              <a:latin typeface="Times New Roman"/>
              <a:cs typeface="Times New Roman"/>
            </a:endParaRPr>
          </a:p>
          <a:p>
            <a:pPr indent="0" marL="0" algn="ctr">
              <a:buNone/>
              <a:spcBef>
                <a:spcPts val="0"/>
              </a:spcBef>
            </a:pPr>
            <a:r>
              <a:rPr sz="4000" b="1">
                <a:solidFill>
                  <a:srgbClr val="1F2A44"/>
                </a:solidFill>
                <a:latin typeface="Times New Roman"/>
                <a:cs typeface="Times New Roman"/>
              </a:rPr>
              <a:t>and 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750000"/>
            <a:ext cx="10515600" cy="1600000"/>
          </a:xfrm>
        </p:spPr>
        <p:txBody>
          <a:bodyPr wrap="square">
            <a:normAutofit fontScale="92500" lnSpcReduction="20000"/>
          </a:bodyPr>
          <a:lstStyle/>
          <a:p>
            <a:pPr indent="0" marL="0" algn="ctr">
              <a:buNone/>
              <a:spcBef>
                <a:spcPts val="200"/>
              </a:spcBef>
            </a:pPr>
            <a:r>
              <a:rPr sz="1800" b="1">
                <a:latin typeface="Times New Roman"/>
                <a:cs typeface="Times New Roman"/>
              </a:rPr>
              <a:t>Dr. Kayarvizhy N</a:t>
            </a:r>
            <a:endParaRPr lang="en-IN" sz="2000" dirty="0">
              <a:solidFill>
                <a:prstClr val="black"/>
              </a:solidFill>
            </a:endParaRPr>
          </a:p>
          <a:p>
            <a:pPr indent="0" marL="0" algn="ctr">
              <a:buNone/>
              <a:spcBef>
                <a:spcPts val="200"/>
              </a:spcBef>
            </a:pPr>
            <a:r>
              <a:rPr sz="1800">
                <a:latin typeface="Times New Roman"/>
                <a:cs typeface="Times New Roman"/>
              </a:rPr>
              <a:t>Professor</a:t>
            </a:r>
          </a:p>
          <a:p>
            <a:pPr indent="0" marL="0" algn="ctr">
              <a:buNone/>
              <a:spcBef>
                <a:spcPts val="200"/>
              </a:spcBef>
            </a:pPr>
            <a:r>
              <a:rPr sz="1800">
                <a:latin typeface="Times New Roman"/>
                <a:cs typeface="Times New Roman"/>
              </a:rPr>
              <a:t>Department of Computer Science and Engineering</a:t>
            </a:r>
          </a:p>
          <a:p>
            <a:pPr indent="0" marL="0" algn="ctr">
              <a:buNone/>
              <a:spcBef>
                <a:spcPts val="200"/>
              </a:spcBef>
            </a:pPr>
            <a:r>
              <a:rPr sz="1800">
                <a:latin typeface="Times New Roman"/>
                <a:cs typeface="Times New Roman"/>
              </a:rPr>
              <a:t>B.M.S. College of Engineering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1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863" y="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000" y="265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800" b="1">
                <a:latin typeface="Times New Roman"/>
                <a:cs typeface="Times New Roman"/>
              </a:rPr>
              <a:t>Bhavya Goyal</a:t>
            </a:r>
          </a:p>
          <a:p>
            <a:pPr indent="0" marL="0" algn="ctr">
              <a:buNone/>
              <a:spcBef>
                <a:spcPts val="0"/>
              </a:spcBef>
            </a:pPr>
            <a:r>
              <a:rPr sz="1800">
                <a:latin typeface="Times New Roman"/>
                <a:cs typeface="Times New Roman"/>
              </a:rPr>
              <a:t>1BM23CS063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6000" y="265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800" b="1">
                <a:latin typeface="Times New Roman"/>
                <a:cs typeface="Times New Roman"/>
              </a:rPr>
              <a:t>Priyam Thakur</a:t>
            </a:r>
          </a:p>
          <a:p>
            <a:pPr indent="0" marL="0" algn="ctr">
              <a:buNone/>
              <a:spcBef>
                <a:spcPts val="0"/>
              </a:spcBef>
            </a:pPr>
            <a:r>
              <a:rPr sz="1800">
                <a:latin typeface="Times New Roman"/>
                <a:cs typeface="Times New Roman"/>
              </a:rPr>
              <a:t>1BM23CS252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65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800" b="1">
                <a:latin typeface="Times New Roman"/>
                <a:cs typeface="Times New Roman"/>
              </a:rPr>
              <a:t>Samir Chaudhary</a:t>
            </a:r>
          </a:p>
          <a:p>
            <a:pPr indent="0" marL="0" algn="ctr">
              <a:buNone/>
              <a:spcBef>
                <a:spcPts val="0"/>
              </a:spcBef>
            </a:pPr>
            <a:r>
              <a:rPr sz="1800">
                <a:latin typeface="Times New Roman"/>
                <a:cs typeface="Times New Roman"/>
              </a:rPr>
              <a:t>1BM23CS294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6000" y="265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800" b="1">
                <a:latin typeface="Times New Roman"/>
                <a:cs typeface="Times New Roman"/>
              </a:rPr>
              <a:t>Sana Subodh</a:t>
            </a:r>
          </a:p>
          <a:p>
            <a:pPr indent="0" marL="0" algn="ctr">
              <a:buNone/>
              <a:spcBef>
                <a:spcPts val="0"/>
              </a:spcBef>
            </a:pPr>
            <a:r>
              <a:rPr sz="1800">
                <a:latin typeface="Times New Roman"/>
                <a:cs typeface="Times New Roman"/>
              </a:rPr>
              <a:t>1BM23CS296</a:t>
            </a:r>
          </a:p>
        </p:txBody>
      </p:sp>
    </p:spTree>
    <p:extLst>
      <p:ext uri="{BB962C8B-B14F-4D97-AF65-F5344CB8AC3E}">
        <p14:creationId xmlns:p14="http://schemas.microsoft.com/office/powerpoint/2010/main" val="206827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 marL="0" indent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1.   Problem Statement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2.   High Level Design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3.   Detailed Design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4.   Implementation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5.   Results (Tables, Graphs, Dataset Used) and Snapshots of the Output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6.   Conclusion and Future Enhancements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7.   Paper Published</a:t>
            </a:r>
          </a:p>
          <a:p>
            <a:pPr indent="0" marL="0">
              <a:buNone/>
              <a:spcBef>
                <a:spcPts val="900"/>
              </a:spcBef>
            </a:pPr>
            <a:r>
              <a:rPr sz="2200">
                <a:latin typeface="Times New Roman"/>
                <a:cs typeface="Times New Roman"/>
              </a:rPr>
              <a:t>8.   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2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</p:spTree>
    <p:extLst>
      <p:ext uri="{BB962C8B-B14F-4D97-AF65-F5344CB8AC3E}">
        <p14:creationId xmlns:p14="http://schemas.microsoft.com/office/powerpoint/2010/main" val="22272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650000"/>
            <a:ext cx="105156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700"/>
              </a:spcBef>
              <a:buChar char="•"/>
            </a:pPr>
            <a:r>
              <a:rPr sz="1800">
                <a:latin typeface="Times New Roman"/>
                <a:cs typeface="Times New Roman"/>
              </a:rPr>
              <a:t>Scam SMS in India copy genuine service messages: bank KYC updates, electricity disconnection notices, parcel fees, e-challans, job offers and digital-arrest threats, often in Hindi or mixed Hindi-English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sz="1800">
                <a:latin typeface="Times New Roman"/>
                <a:cs typeface="Times New Roman"/>
              </a:rPr>
              <a:t>Scam and genuine messages share the same words (KYC, OTP, account, block, link), so keyword filters raise false alarms on real bank and operator messages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sz="1800">
                <a:latin typeface="Times New Roman"/>
                <a:cs typeface="Times New Roman"/>
              </a:rPr>
              <a:t>Public smishing data contains only user reports; reports are unverified and many of them are genuine messages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sz="1800">
                <a:latin typeface="Times New Roman"/>
                <a:cs typeface="Times New Roman"/>
              </a:rPr>
              <a:t>One scam campaign is sent with small edits to many people, so a random train-test split overstates accuracy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sz="1800">
                <a:latin typeface="Times New Roman"/>
                <a:cs typeface="Times New Roman"/>
              </a:rPr>
              <a:t>Most tools give a bare label without telling the user which part of the message is the trap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4800000"/>
            <a:ext cx="10515600" cy="1250000"/>
          </a:xfrm>
          <a:prstGeom prst="rect">
            <a:avLst/>
          </a:prstGeom>
          <a:solidFill>
            <a:srgbClr val="E8EDF5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 indent="0" marL="0">
              <a:buNone/>
              <a:spcBef>
                <a:spcPts val="0"/>
              </a:spcBef>
            </a:pPr>
            <a:r>
              <a:rPr b="1" sz="1800">
                <a:solidFill>
                  <a:srgbClr val="1F2A44"/>
                </a:solidFill>
                <a:latin typeface="Times New Roman"/>
                <a:cs typeface="Times New Roman"/>
              </a:rPr>
              <a:t>Objective: </a:t>
            </a:r>
            <a:r>
              <a:rPr sz="1800">
                <a:solidFill>
                  <a:srgbClr val="111111"/>
                </a:solidFill>
                <a:latin typeface="Times New Roman"/>
                <a:cs typeface="Times New Roman"/>
              </a:rPr>
              <a:t>build an audited Indian SMS dataset and an explainable detector that separates scam from genuine messages with few false alarms, evaluate it without campaign leakage, and deliver it as a deployed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88548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High Level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7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di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000" y="1600000"/>
            <a:ext cx="7437067" cy="39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60000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400" i="1">
                <a:latin typeface="Times New Roman"/>
                <a:cs typeface="Times New Roman"/>
              </a:rPr>
              <a:t>Offline (orange): dataset build and training. Online (blue): every request is cleaned, classified, checked by the rules and explained.</a:t>
            </a:r>
          </a:p>
        </p:txBody>
      </p:sp>
    </p:spTree>
    <p:extLst>
      <p:ext uri="{BB962C8B-B14F-4D97-AF65-F5344CB8AC3E}">
        <p14:creationId xmlns:p14="http://schemas.microsoft.com/office/powerpoint/2010/main" val="374383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Detailed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8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000" y="1550000"/>
            <a:ext cx="9559573" cy="235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395000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400" i="1">
                <a:latin typeface="Times New Roman"/>
                <a:cs typeface="Times New Roman"/>
              </a:rPr>
              <a:t>Dataset and model pipeline: from source collection to the registered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00000"/>
            <a:ext cx="10515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400"/>
              </a:spcBef>
              <a:buChar char="•"/>
            </a:pPr>
            <a:r>
              <a:rPr b="1" sz="1600">
                <a:solidFill>
                  <a:srgbClr val="1F2A44"/>
                </a:solidFill>
                <a:latin typeface="Times New Roman"/>
                <a:cs typeface="Times New Roman"/>
              </a:rPr>
              <a:t>Collect: </a:t>
            </a:r>
            <a:r>
              <a:rPr sz="1600">
                <a:latin typeface="Times New Roman"/>
                <a:cs typeface="Times New Roman"/>
              </a:rPr>
              <a:t>IMC 2025 India reports, India SMS collection, 2025-26 advisories, synthetic templates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b="1" sz="1600">
                <a:solidFill>
                  <a:srgbClr val="1F2A44"/>
                </a:solidFill>
                <a:latin typeface="Times New Roman"/>
                <a:cs typeface="Times New Roman"/>
              </a:rPr>
              <a:t>Audit: </a:t>
            </a:r>
            <a:r>
              <a:rPr sz="1600">
                <a:latin typeface="Times New Roman"/>
                <a:cs typeface="Times New Roman"/>
              </a:rPr>
              <a:t>every reported-message campaign confirmed by rule or read by hand; second pass on model disagreements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b="1" sz="1600">
                <a:solidFill>
                  <a:srgbClr val="1F2A44"/>
                </a:solidFill>
                <a:latin typeface="Times New Roman"/>
                <a:cs typeface="Times New Roman"/>
              </a:rPr>
              <a:t>Split: </a:t>
            </a:r>
            <a:r>
              <a:rPr sz="1600">
                <a:latin typeface="Times New Roman"/>
                <a:cs typeface="Times New Roman"/>
              </a:rPr>
              <a:t>MinHash near-duplicate campaigns; each campaign goes to only one of train, development or test</a:t>
            </a:r>
          </a:p>
        </p:txBody>
      </p:sp>
    </p:spTree>
    <p:extLst>
      <p:ext uri="{BB962C8B-B14F-4D97-AF65-F5344CB8AC3E}">
        <p14:creationId xmlns:p14="http://schemas.microsoft.com/office/powerpoint/2010/main" val="374640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9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650000"/>
            <a:ext cx="5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Front end: </a:t>
            </a:r>
            <a:r>
              <a:rPr sz="1700">
                <a:latin typeface="Times New Roman"/>
                <a:cs typeface="Times New Roman"/>
              </a:rPr>
              <a:t>Next.js 14, React 18, Tailwind CSS; English and Hindi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Back end: </a:t>
            </a:r>
            <a:r>
              <a:rPr sz="1700">
                <a:latin typeface="Times New Roman"/>
                <a:cs typeface="Times New Roman"/>
              </a:rPr>
              <a:t>FastAPI, SQLAlchemy, PostgreSQL, JWT authentication, rate limiting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Machine learning: </a:t>
            </a:r>
            <a:r>
              <a:rPr sz="1700">
                <a:latin typeface="Times New Roman"/>
                <a:cs typeface="Times New Roman"/>
              </a:rPr>
              <a:t>scikit-learn; versioned model registry; same preprocessing in training and serving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Data tools: </a:t>
            </a:r>
            <a:r>
              <a:rPr sz="1700">
                <a:latin typeface="Times New Roman"/>
                <a:cs typeface="Times New Roman"/>
              </a:rPr>
              <a:t>datasketch (MinHash), pandas, NumPy, Matplotlib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Deployment: </a:t>
            </a:r>
            <a:r>
              <a:rPr sz="1700">
                <a:latin typeface="Times New Roman"/>
                <a:cs typeface="Times New Roman"/>
              </a:rPr>
              <a:t>Render (back end and front end), GitHub Actions CI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Quality: </a:t>
            </a:r>
            <a:r>
              <a:rPr sz="1700">
                <a:latin typeface="Times New Roman"/>
                <a:cs typeface="Times New Roman"/>
              </a:rPr>
              <a:t>818 automated tests and a daily check of the live site</a:t>
            </a:r>
          </a:p>
        </p:txBody>
      </p:sp>
      <p:pic>
        <p:nvPicPr>
          <p:cNvPr id="9" name="Picture 8" descr="05_analyze_re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0" y="1750000"/>
            <a:ext cx="4850000" cy="3031250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00000" y="4900000"/>
            <a:ext cx="48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300" i="1">
                <a:latin typeface="Times New Roman"/>
                <a:cs typeface="Times New Roman"/>
              </a:rPr>
              <a:t>Full analysis screen</a:t>
            </a:r>
          </a:p>
        </p:txBody>
      </p:sp>
    </p:spTree>
    <p:extLst>
      <p:ext uri="{BB962C8B-B14F-4D97-AF65-F5344CB8AC3E}">
        <p14:creationId xmlns:p14="http://schemas.microsoft.com/office/powerpoint/2010/main" val="193330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Dataset Used (ScamGuard-IN-2026)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10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1650000"/>
          <a:ext cx="6700000" cy="2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000"/>
                <a:gridCol w="938000"/>
                <a:gridCol w="938000"/>
                <a:gridCol w="1608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Genuine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Scam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Use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IMC 2025 reports, India subset (audited)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963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3,987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train / dev / test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India SMS collection (audited)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1,694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train / dev / test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2025-26 advisories and news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test only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Synthetic 2025-26 scam and genuine types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2,950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1,787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train only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5,608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5,791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11,399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00000" y="1650000"/>
          <a:ext cx="3550000" cy="2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00"/>
                <a:gridCol w="1136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Split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Messages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Train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8,645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Development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868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Test (real, unseen campaigns)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1,874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2025-26 advisory test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8200" y="4400000"/>
            <a:ext cx="10515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500"/>
              </a:spcBef>
              <a:buChar char="•"/>
            </a:pPr>
            <a:r>
              <a:rPr sz="1600">
                <a:latin typeface="Times New Roman"/>
                <a:cs typeface="Times New Roman"/>
              </a:rPr>
              <a:t>All 2,922 reported-message campaigns checked: 1,253 by rule, 1,669 by hand; 19.5% of retained reports were genuine</a:t>
            </a:r>
          </a:p>
          <a:p>
            <a:pPr marL="228600" indent="-228600">
              <a:spcBef>
                <a:spcPts val="500"/>
              </a:spcBef>
              <a:buChar char="•"/>
            </a:pPr>
            <a:r>
              <a:rPr sz="1600">
                <a:latin typeface="Times New Roman"/>
                <a:cs typeface="Times New Roman"/>
              </a:rPr>
              <a:t>6,662 real messages form 4,085 near-duplicate campaigns (largest 128); test = 665 genuine + 1,209 scam</a:t>
            </a:r>
          </a:p>
          <a:p>
            <a:pPr marL="228600" indent="-228600">
              <a:spcBef>
                <a:spcPts val="500"/>
              </a:spcBef>
              <a:buChar char="•"/>
            </a:pPr>
            <a:r>
              <a:rPr sz="1600">
                <a:latin typeface="Times New Roman"/>
                <a:cs typeface="Times New Roman"/>
              </a:rPr>
              <a:t>Attributes: text, label, source, subtype, is_synthetic, campaign, split</a:t>
            </a:r>
          </a:p>
        </p:txBody>
      </p:sp>
    </p:spTree>
    <p:extLst>
      <p:ext uri="{BB962C8B-B14F-4D97-AF65-F5344CB8AC3E}">
        <p14:creationId xmlns:p14="http://schemas.microsoft.com/office/powerpoint/2010/main" val="33998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Conclusion and Future Enhancements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11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1650000"/>
            <a:ext cx="5107800" cy="450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indent="0" marL="0">
              <a:buNone/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200000"/>
            <a:ext cx="51078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ScamGuard-IN-2026: 11,399 Indian SMS, audited labels, campaign-aware split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Label quality matters most: report labels 34.0% false alarms, audited labels 2.6%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Deployed system on 1,874 unseen-campaign messages: 97.1% accuracy, 98.2% precision, 97.2% recall, 3.2% false alarms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Explainable web application with Hindi support, under 4 ms per 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6000" y="1650000"/>
            <a:ext cx="5107800" cy="450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indent="0" marL="0">
              <a:buNone/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Times New Roman"/>
                <a:cs typeface="Times New Roman"/>
              </a:rP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6000" y="2200000"/>
            <a:ext cx="51078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Team-contributed 2026 SMS as a larger real test set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Second annotator and inter-annotator agreement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Kannada, Tamil, Telugu and other Indian languages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Tests against adaptive and LLM-paraphrased scams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Small transformer models under the same split</a:t>
            </a:r>
          </a:p>
          <a:p>
            <a:pPr marL="228600" indent="-228600">
              <a:spcBef>
                <a:spcPts val="800"/>
              </a:spcBef>
              <a:buChar char="•"/>
            </a:pPr>
            <a:r>
              <a:rPr sz="1700">
                <a:latin typeface="Times New Roman"/>
                <a:cs typeface="Times New Roman"/>
              </a:rPr>
              <a:t>Android share-to-check</a:t>
            </a:r>
          </a:p>
        </p:txBody>
      </p:sp>
    </p:spTree>
    <p:extLst>
      <p:ext uri="{BB962C8B-B14F-4D97-AF65-F5344CB8AC3E}">
        <p14:creationId xmlns:p14="http://schemas.microsoft.com/office/powerpoint/2010/main" val="58658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Paper Published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13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650000"/>
            <a:ext cx="63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Title: </a:t>
            </a:r>
            <a:r>
              <a:rPr sz="1700">
                <a:latin typeface="Times New Roman"/>
                <a:cs typeface="Times New Roman"/>
              </a:rPr>
              <a:t>ScamGuard: AI-Based Online Scam and Fraud Detection System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Authors: </a:t>
            </a:r>
            <a:r>
              <a:rPr sz="1700">
                <a:latin typeface="Times New Roman"/>
                <a:cs typeface="Times New Roman"/>
              </a:rPr>
              <a:t>Dr. Kayarvizhy N, Priyam Thakur, Bhavya Goyal, Samir Chaudhary, Sana Subodh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Format: </a:t>
            </a:r>
            <a:r>
              <a:rPr sz="1700">
                <a:latin typeface="Times New Roman"/>
                <a:cs typeface="Times New Roman"/>
              </a:rPr>
              <a:t>IEEE conference paper, 8 pages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Status: </a:t>
            </a:r>
            <a:r>
              <a:rPr sz="1700">
                <a:latin typeface="Times New Roman"/>
                <a:cs typeface="Times New Roman"/>
              </a:rPr>
              <a:t>manuscript complete; to be submitted after the guide's approval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Contributions: </a:t>
            </a:r>
            <a:r>
              <a:rPr sz="1700">
                <a:latin typeface="Times New Roman"/>
                <a:cs typeface="Times New Roman"/>
              </a:rPr>
              <a:t>audited Indian SMS corpus, measurement of report noise, campaign-aware evaluation, independent test of hybrid rules</a:t>
            </a:r>
          </a:p>
        </p:txBody>
      </p:sp>
      <p:pic>
        <p:nvPicPr>
          <p:cNvPr id="9" name="Picture 8" descr="paper_p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1600000"/>
            <a:ext cx="3515909" cy="4550000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</p:spTree>
    <p:extLst>
      <p:ext uri="{BB962C8B-B14F-4D97-AF65-F5344CB8AC3E}">
        <p14:creationId xmlns:p14="http://schemas.microsoft.com/office/powerpoint/2010/main" val="3373861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[1]  S. Agarwal, A. Papasavva, G. Suarez-Tangil, and M. Vasek, "Fishing for smishing: Understanding SMS phishing infrastructure and strategies by mining public user reports," in Proc. ACM IMC, 2025, doi: 10.1145/3730567.3764431.</a:t>
            </a:r>
            <a:endParaRPr lang="en-IN"/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[2]  S. Agarwal, G. Suarez-Tangil, and M. Vasek, "An overview of 7726 user reports: Uncovering SMS scams and scammer strategies," in Proc. NDSS Symp., 2026.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[3]  M. M. A. Pritom et al., "Short message service (SMS) phishing attacks and defenses: A systematic review," arXiv:2604.11429, 2026.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[4]  D. Timko and M. L. Rahman, "Smishing Dataset I: Phishing SMS dataset from Smishtank.com," in Proc. ACM CODASPY, 2024.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[5]  D. Goel, H. Ahmad, A. K. Jain, and N. K. Goel, "Machine learning driven smishing detection framework for mobile security," arXiv:2412.09641, 2024.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[6]  C. Northcutt, L. Jiang, and I. Chuang, "Confident learning: Estimating uncertainty in dataset labels," J. Artif. Intell. Res., vol. 70, pp. 1373-1411, 2021.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[7]  K. Lee et al., "Deduplicating training data makes language models better," in Proc. ACL, 2022, pp. 8424-8445.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[8]  S. Kapoor and A. Narayanan, "Leakage and the reproducibility crisis in machine-learning-based science," Patterns, 2023.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[9]  A. Z. Broder, "On the resemblance and containment of documents," in Proc. Compression and Complexity of SEQUENCES, 1997.</a:t>
            </a:r>
          </a:p>
          <a:p>
            <a:pPr indent="-457200" marL="457200">
              <a:buNone/>
              <a:spcBef>
                <a:spcPts val="500"/>
              </a:spcBef>
            </a:pPr>
            <a:r>
              <a:rPr sz="1300">
                <a:latin typeface="Times New Roman"/>
                <a:cs typeface="Times New Roman"/>
              </a:rPr>
              <a:t>[10]  G. Salton and C. Buckley, "Term-weighting approaches in automatic text retrieval," Inf. Process. Manage., vol. 24, no. 5, pp. 513-523, 1988.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14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</p:spTree>
    <p:extLst>
      <p:ext uri="{BB962C8B-B14F-4D97-AF65-F5344CB8AC3E}">
        <p14:creationId xmlns:p14="http://schemas.microsoft.com/office/powerpoint/2010/main" val="409704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15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00000"/>
            <a:ext cx="105156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5400" b="1">
                <a:solidFill>
                  <a:srgbClr val="1F2A44"/>
                </a:solidFill>
                <a:latin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8863572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Detailed Design (contd.)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650000"/>
            <a:ext cx="105156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Preprocessing: </a:t>
            </a:r>
            <a:r>
              <a:rPr sz="1700">
                <a:latin typeface="Times New Roman"/>
                <a:cs typeface="Times New Roman"/>
              </a:rPr>
              <a:t>replace e-mails, URLs (also bare links like bit.ly/x) and phone numbers with tokens; lowercase; keep Latin and Devanagari words; light stemming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Features: </a:t>
            </a:r>
            <a:r>
              <a:rPr sz="1700">
                <a:latin typeface="Times New Roman"/>
                <a:cs typeface="Times New Roman"/>
              </a:rPr>
              <a:t>TF-IDF word 1-2-grams (30,000) + character 2-5-grams (60,000); 35,148 features after pruning; handles Hindi and spellings like K.Y.C or bl0cked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Classifier: </a:t>
            </a:r>
            <a:r>
              <a:rPr sz="1700">
                <a:latin typeface="Times New Roman"/>
                <a:cs typeface="Times New Roman"/>
              </a:rPr>
              <a:t>logistic regression  p(x) = σ(w·φ(x) + b),  C = 16, balanced class weights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Intent layer: </a:t>
            </a:r>
            <a:r>
              <a:rPr sz="1700">
                <a:latin typeface="Times New Roman"/>
                <a:cs typeface="Times New Roman"/>
              </a:rPr>
              <a:t>31 patterns for 26 scam intents (OTP request, pay-to-receive, KYC deadline, remote-access app, legal threat) and 10 protective signals (do-not-share warning, 1909/1930, masked-account alert)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Fusion: </a:t>
            </a:r>
            <a:r>
              <a:rPr sz="1700">
                <a:latin typeface="Times New Roman"/>
                <a:cs typeface="Times New Roman"/>
              </a:rPr>
              <a:t>s(x) = σ(clip(logit p, ±4) + 5(E⁺ − E⁻)); capped at 0.15 for genuine alerts; decoy rule for "never share your OTP ... share it"</a:t>
            </a:r>
          </a:p>
          <a:p>
            <a:pPr marL="228600" indent="-228600">
              <a:spcBef>
                <a:spcPts val="7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Explanation: </a:t>
            </a:r>
            <a:r>
              <a:rPr sz="1700">
                <a:latin typeface="Times New Roman"/>
                <a:cs typeface="Times New Roman"/>
              </a:rPr>
              <a:t>matched phrases grouped into hook, pressure, request and cash-out (Scam X-Ray, TrustLens)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Implementation (contd.)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1650000"/>
          <a:ext cx="10515599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7360919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it does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Quick check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Verdict and reasons for a pasted message, without sign-in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Full analysis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Text, URL, e-mail, screenshot, PDF or QR input; risk score and evidence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Scam X-Ray and TrustLens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Risky phrases by stage, what a genuine message would do, next steps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AI copilot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Answers follow-up questions about a scan (Gemini, daily cap)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Safety tools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QR check, before-you-pay check, file check, chat timeline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History and analytics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Saved scans, search, export, verdict share and score trend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Scam simulator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Practice messages to learn the common tricks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Performance on the Real Test Set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1650000"/>
          <a:ext cx="10515600" cy="1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472184"/>
                <a:gridCol w="1472184"/>
                <a:gridCol w="1472184"/>
                <a:gridCol w="1472184"/>
                <a:gridCol w="1472184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 (1,874 messages)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False alarms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Classifier only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97.5%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98.6%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97.6%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98.1%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2.6%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Deployed system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97.1%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98.2%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97.2%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97.7%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3.2%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Learned fusion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97.8%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98.7%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97.8%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98.3%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2.3%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nal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00000"/>
            <a:ext cx="5413349" cy="265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00000" y="3550000"/>
            <a:ext cx="485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5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Deployed system: accuracy 95% CI 96.3-97.8%; false alarms 95% CI 2.0-4.6%</a:t>
            </a:r>
          </a:p>
          <a:p>
            <a:pPr marL="228600" indent="-228600">
              <a:spcBef>
                <a:spcPts val="5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ROC-AUC 0.995, average precision 0.997</a:t>
            </a:r>
          </a:p>
          <a:p>
            <a:pPr marL="228600" indent="-228600">
              <a:spcBef>
                <a:spcPts val="5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Catches 1,175 of 1,209 scams; passes 644 of 665 genuine messages</a:t>
            </a:r>
          </a:p>
          <a:p>
            <a:pPr marL="228600" indent="-228600">
              <a:spcBef>
                <a:spcPts val="5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2025-26 advisories: 10 of 11 scams caught, genuine notice passed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Research Findings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labe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50000"/>
            <a:ext cx="4537500" cy="33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00000" y="1600000"/>
            <a:ext cx="575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Label audit: </a:t>
            </a:r>
            <a:r>
              <a:rPr sz="1700">
                <a:latin typeface="Times New Roman"/>
                <a:cs typeface="Times New Roman"/>
              </a:rPr>
              <a:t>training on report labels gives 34.0% false alarms; audited labels give 2.6% (McNemar p &lt; 10⁻³⁰)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Leakage: </a:t>
            </a:r>
            <a:r>
              <a:rPr sz="1700">
                <a:latin typeface="Times New Roman"/>
                <a:cs typeface="Times New Roman"/>
              </a:rPr>
              <a:t>a random split shows 0.8% false alarms, the campaign split 1.4%; 793 test rows leaked under the random split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Synthetic data: </a:t>
            </a:r>
            <a:r>
              <a:rPr sz="1700">
                <a:latin typeface="Times New Roman"/>
                <a:cs typeface="Times New Roman"/>
              </a:rPr>
              <a:t>recall on 2025-26 scam types rises from 35.6% to 82.2%; real-data F1 stays at 98.1%</a:t>
            </a:r>
          </a:p>
          <a:p>
            <a:pPr marL="228600" indent="-228600">
              <a:spcBef>
                <a:spcPts val="900"/>
              </a:spcBef>
              <a:buChar char="•"/>
            </a:pPr>
            <a:r>
              <a:rPr b="1" sz="1700">
                <a:solidFill>
                  <a:srgbClr val="1F2A44"/>
                </a:solidFill>
                <a:latin typeface="Times New Roman"/>
                <a:cs typeface="Times New Roman"/>
              </a:rPr>
              <a:t>Intent rules: </a:t>
            </a:r>
            <a:r>
              <a:rPr sz="1700">
                <a:latin typeface="Times New Roman"/>
                <a:cs typeface="Times New Roman"/>
              </a:rPr>
              <a:t>on unseen real data F1 98.1% → 97.7%; kept for phrase-level explanations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Model Comparison and Errors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1650000"/>
          <a:ext cx="50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1250000"/>
                <a:gridCol w="12500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Word + char TF-IDF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False alarms</a:t>
                      </a:r>
                    </a:p>
                  </a:txBody>
                  <a:tcPr anchor="ctr" marL="70000" marR="70000">
                    <a:solidFill>
                      <a:srgbClr val="1F2A4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Naive Bayes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95.5%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6.5%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Logistic regression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98.1%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2.6%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Linear SVM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98.2%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3.9%</a:t>
                      </a:r>
                    </a:p>
                  </a:txBody>
                  <a:tcPr anchor="ctr" marL="70000" marR="7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97.6%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3.3%</a:t>
                      </a:r>
                    </a:p>
                  </a:txBody>
                  <a:tcPr anchor="ctr" marL="70000" marR="70000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8200" y="3900000"/>
            <a:ext cx="50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Logistic regression selected: lowest false-alarm rate among the strong models, readable word weights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Deployed system: 34 scams missed, 21 genuine flagged; 15 of the 21 are reported-but-genuine bank messages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Threshold 0.9: false alarms 0.8% at 92.5% recall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sz="1500">
                <a:latin typeface="Times New Roman"/>
                <a:cs typeface="Times New Roman"/>
              </a:rPr>
              <a:t>Model 1.6 MB; 3.8 ms per message</a:t>
            </a:r>
          </a:p>
        </p:txBody>
      </p:sp>
      <p:pic>
        <p:nvPicPr>
          <p:cNvPr id="10" name="Picture 9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750000"/>
            <a:ext cx="5200000" cy="26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50000" y="435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400" i="1">
                <a:latin typeface="Times New Roman"/>
                <a:cs typeface="Times New Roman"/>
              </a:rPr>
              <a:t>Deployed system: confusion matrix and threshold trade-off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Snapshots of the Output (1/4)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02_quick_s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00" y="1663854"/>
            <a:ext cx="5650000" cy="3972291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5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Quick check: fake KYC SMS flagged as scam</a:t>
            </a:r>
          </a:p>
        </p:txBody>
      </p:sp>
      <p:pic>
        <p:nvPicPr>
          <p:cNvPr id="10" name="Picture 9" descr="03_quick_genu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706" y="1650000"/>
            <a:ext cx="5590588" cy="4000000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8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Quick check: operator 1909 notice looks genuine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Snapshots of the Output (2/4)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05_analyze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00" y="2105078"/>
            <a:ext cx="5650000" cy="3089843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5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Full analysis of a scam message</a:t>
            </a:r>
          </a:p>
        </p:txBody>
      </p:sp>
      <p:pic>
        <p:nvPicPr>
          <p:cNvPr id="10" name="Picture 9" descr="06_analyze_x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65" y="1650000"/>
            <a:ext cx="5636070" cy="4000000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8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Scam X-Ray: risky phrases by scam stage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Snapshots of the Output (3/4)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07_analyze_trustl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00" y="1707812"/>
            <a:ext cx="5650000" cy="3884375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5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TrustLens: scam journey and next steps</a:t>
            </a:r>
          </a:p>
        </p:txBody>
      </p:sp>
      <p:pic>
        <p:nvPicPr>
          <p:cNvPr id="10" name="Picture 9" descr="08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000" y="1778358"/>
            <a:ext cx="5650000" cy="3743284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8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Dashboard: priority findings and recent scans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1F2A44"/>
                </a:solidFill>
                <a:latin typeface="Times New Roman"/>
                <a:cs typeface="Times New Roman"/>
              </a:rPr>
              <a:t>Results: Snapshots of the Output (4/4)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00000" y="6356350"/>
            <a:ext cx="6800000" cy="365125"/>
          </a:xfrm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ScamGuard: AI-Based Online Scam and Fraud Detection System   |   Department of CSE, BMSCE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E0BF8-4B7D-46FA-B28A-DDF089F57DAF}" type="slidenum">
              <a:rPr lang="en-IN" smtClean="0">
                <a:latin typeface="Times New Roman"/>
                <a:cs typeface="Times New Roman"/>
              </a:rPr>
              <a:t>6</a:t>
            </a:fld>
            <a:endParaRPr lang="en-IN">
              <a:latin typeface="Times New Roman"/>
              <a:cs typeface="Times New Roman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2" y="19050"/>
            <a:ext cx="1163638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20-10-2026</a:t>
            </a:r>
          </a:p>
        </p:txBody>
      </p:sp>
      <p:pic>
        <p:nvPicPr>
          <p:cNvPr id="8" name="Picture 7" descr="10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00" y="2060937"/>
            <a:ext cx="5650000" cy="3178125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5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Analytics: verdict share and score trend</a:t>
            </a:r>
          </a:p>
        </p:txBody>
      </p:sp>
      <p:pic>
        <p:nvPicPr>
          <p:cNvPr id="10" name="Picture 9" descr="11_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000" y="2252024"/>
            <a:ext cx="5650000" cy="2795951"/>
          </a:xfrm>
          <a:prstGeom prst="rect">
            <a:avLst/>
          </a:prstGeom>
          <a:ln w="9525">
            <a:solidFill>
              <a:srgbClr val="9AA0A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86000" y="5730000"/>
            <a:ext cx="5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marL="0" algn="ctr">
              <a:buNone/>
              <a:spcBef>
                <a:spcPts val="0"/>
              </a:spcBef>
            </a:pPr>
            <a:r>
              <a:rPr sz="1500" i="1">
                <a:latin typeface="Times New Roman"/>
                <a:cs typeface="Times New Roman"/>
              </a:rPr>
              <a:t>Safety tools: QR, before-you-pay, file check,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374</Words>
  <Application>Microsoft Office PowerPoint</Application>
  <PresentationFormat>Widescreen</PresentationFormat>
  <Paragraphs>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Title of the Project  Team-Member-1          Team-Member-2        Team-Member-3            Team-Member-4 USN     USN                           USN                                    USN</vt:lpstr>
      <vt:lpstr>OUTLINE</vt:lpstr>
      <vt:lpstr>Note</vt:lpstr>
      <vt:lpstr>Sustainable Development Goals (SDGs) Addressed</vt:lpstr>
      <vt:lpstr>Collaboration</vt:lpstr>
      <vt:lpstr>Problem Statement </vt:lpstr>
      <vt:lpstr>High level Design</vt:lpstr>
      <vt:lpstr>Detailed Design</vt:lpstr>
      <vt:lpstr>Implementation</vt:lpstr>
      <vt:lpstr>Results</vt:lpstr>
      <vt:lpstr>Conclusion</vt:lpstr>
      <vt:lpstr>Future Enhancements</vt:lpstr>
      <vt:lpstr>Papers published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  Team-Member-1          Team-Member-2        Team-Member-3            Team-Member-4 USN     USN                           USN                                    USN</dc:title>
  <dc:creator>UMADEVI V</dc:creator>
  <cp:lastModifiedBy>BMSCECSE</cp:lastModifiedBy>
  <cp:revision>7</cp:revision>
  <dcterms:created xsi:type="dcterms:W3CDTF">2022-11-15T07:48:48Z</dcterms:created>
  <dcterms:modified xsi:type="dcterms:W3CDTF">2025-02-20T06:41:41Z</dcterms:modified>
</cp:coreProperties>
</file>