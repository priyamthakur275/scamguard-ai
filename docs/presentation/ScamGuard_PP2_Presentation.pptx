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6" r:id="rId5"/>
    <p:sldId id="267" r:id="rId6"/>
    <p:sldId id="259" r:id="rId7"/>
    <p:sldId id="274" r:id="rId22"/>
    <p:sldId id="275" r:id="rId23"/>
    <p:sldId id="260" r:id="rId8"/>
    <p:sldId id="261" r:id="rId9"/>
    <p:sldId id="276" r:id="rId24"/>
    <p:sldId id="262" r:id="rId10"/>
    <p:sldId id="263" r:id="rId11"/>
    <p:sldId id="277" r:id="rId25"/>
    <p:sldId id="278" r:id="rId26"/>
    <p:sldId id="279" r:id="rId27"/>
    <p:sldId id="280" r:id="rId28"/>
    <p:sldId id="281" r:id="rId29"/>
    <p:sldId id="271" r:id="rId12"/>
    <p:sldId id="270" r:id="rId13"/>
    <p:sldId id="272" r:id="rId14"/>
    <p:sldId id="27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B3DCA-6C69-493F-A03F-730B73AF939C}" type="datetimeFigureOut">
              <a:rPr lang="en-IN" smtClean="0"/>
              <a:t>20-02-2025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773D98-6EB4-47AB-B8AD-3212471361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773D98-6EB4-47AB-B8AD-3212471361B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649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D053B-DB25-42F1-B33E-51C5461C46A9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50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6D68-3A98-4768-BEB1-0E39A68F7DAF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06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19B8D-7C8B-4C09-8C81-B7618A26281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323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1243-2A31-40D0-82A9-4633E98CD668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87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2D8B6-BEBE-496B-96D0-368D09DCCB20}" type="datetime1">
              <a:rPr lang="en-IN" smtClean="0"/>
              <a:t>20-02-2025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36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FCAC-BA60-4A9D-8B57-B43241027BFA}" type="datetime1">
              <a:rPr lang="en-IN" smtClean="0"/>
              <a:t>20-02-2025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919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F7E5-E74A-4039-AC79-014909648B60}" type="datetime1">
              <a:rPr lang="en-IN" smtClean="0"/>
              <a:t>20-02-2025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673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3D454-FC22-4AEF-8FE5-CDB95241981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74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14F6-6C18-4B7B-8FAD-C5CC9F79863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331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A17D8-EAAF-4E31-8D25-AF62D001CE1A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10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BE0C-91C3-4274-B780-21302860085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4646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64F45-E5F6-4A15-9110-C8AC5BB2A39E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7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900000"/>
            <a:ext cx="10515600" cy="1500000"/>
          </a:xfrm>
        </p:spPr>
        <p:txBody>
          <a:bodyPr wrap="square">
            <a:no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ScamGuard: AI-Based Online Scam</a:t>
            </a:r>
            <a:endParaRPr lang="en-IN" sz="2400" dirty="0">
              <a:latin typeface="Times New Roman"/>
              <a:cs typeface="Times New Roman"/>
            </a:endParaRPr>
          </a:p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and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600000"/>
            <a:ext cx="10515600" cy="1700000"/>
          </a:xfrm>
        </p:spPr>
        <p:txBody>
          <a:bodyPr wrap="square">
            <a:normAutofit fontScale="92500" lnSpcReduction="20000"/>
          </a:bodyPr>
          <a:lstStyle/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Under the guidance of</a:t>
            </a:r>
            <a:endParaRPr lang="en-IN" sz="2000" dirty="0">
              <a:solidFill>
                <a:prstClr val="black"/>
              </a:solidFill>
            </a:endParaRPr>
          </a:p>
          <a:p>
            <a:pPr indent="0" marL="0" algn="ctr">
              <a:buNone/>
              <a:spcBef>
                <a:spcPts val="200"/>
              </a:spcBef>
            </a:pPr>
            <a:r>
              <a:rPr sz="1800" b="1">
                <a:latin typeface="Times New Roman"/>
                <a:cs typeface="Times New Roman"/>
              </a:rPr>
              <a:t>Dr. Kayarvizhy N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Professor, Department of Computer Science and Engineering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B.M.S. College of Engineering, Bengaluru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2863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000" y="260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Bhavya Goyal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1BM23CS063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6000" y="260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Priyam Thakur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60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Samir Chaudhary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6000" y="260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Sana Subodh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1BM23CS296</a:t>
            </a:r>
          </a:p>
        </p:txBody>
      </p:sp>
    </p:spTree>
    <p:extLst>
      <p:ext uri="{BB962C8B-B14F-4D97-AF65-F5344CB8AC3E}">
        <p14:creationId xmlns:p14="http://schemas.microsoft.com/office/powerpoint/2010/main" val="2068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 marL="0" indent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1.   Problem Statement and Objectives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2.   Literature Survey and Research Gap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3.   High Level Design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4.   Detailed Design and Dataset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5.   Implementation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6.   Results and Snapshots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7.   Conclusion and Future Enhancements</a:t>
            </a:r>
          </a:p>
          <a:p>
            <a:pPr indent="0" marL="0">
              <a:buNone/>
              <a:spcBef>
                <a:spcPts val="800"/>
              </a:spcBef>
            </a:pPr>
            <a:r>
              <a:rPr sz="2200">
                <a:latin typeface="Times New Roman"/>
                <a:cs typeface="Times New Roman"/>
              </a:rPr>
              <a:t>8.   Paper and 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2272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Sustainable Development Goals Addressed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SDG 16.4 (Reduce illicit financial flows): </a:t>
            </a:r>
            <a:r>
              <a:rPr sz="2000">
                <a:latin typeface="Times New Roman"/>
                <a:cs typeface="Times New Roman"/>
              </a:rPr>
              <a:t>stops users before they pay a fraudster or share an OTP, and points them to 1930 and cybercrime.gov.in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SDG 8.10 (Access to financial services): </a:t>
            </a:r>
            <a:r>
              <a:rPr sz="2000">
                <a:latin typeface="Times New Roman"/>
                <a:cs typeface="Times New Roman"/>
              </a:rPr>
              <a:t>people adopt UPI and digital banking only if genuine bank messages can be trusted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SDG 9.c (Access to ICT): </a:t>
            </a:r>
            <a:r>
              <a:rPr sz="2000">
                <a:latin typeface="Times New Roman"/>
                <a:cs typeface="Times New Roman"/>
              </a:rPr>
              <a:t>a 1.6 MB model on a free server, so the service costs users nothing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SDG 10 (Reduced inequalities): </a:t>
            </a:r>
            <a:r>
              <a:rPr sz="2000">
                <a:latin typeface="Times New Roman"/>
                <a:cs typeface="Times New Roman"/>
              </a:rPr>
              <a:t>Hindi support and an elder mode for the users who are targeted most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4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4C58C064-5A26-4ED8-8F7B-4132538C5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63266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Category: </a:t>
            </a:r>
            <a:r>
              <a:rPr sz="2000">
                <a:latin typeface="Times New Roman"/>
                <a:cs typeface="Times New Roman"/>
              </a:rPr>
              <a:t>community-oriented and multidisciplinary</a:t>
            </a:r>
            <a:endParaRPr lang="en-IN" dirty="0"/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Community: </a:t>
            </a:r>
            <a:r>
              <a:rPr sz="2000">
                <a:latin typeface="Times New Roman"/>
                <a:cs typeface="Times New Roman"/>
              </a:rPr>
              <a:t>protects everyday SMS users, especially first-time digital-payment users and elderly people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Disciplines: </a:t>
            </a:r>
            <a:r>
              <a:rPr sz="2000">
                <a:latin typeface="Times New Roman"/>
                <a:cs typeface="Times New Roman"/>
              </a:rPr>
              <a:t>machine learning and NLP, cyber security, data annotation and the design of user-facing explanations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Field work: </a:t>
            </a:r>
            <a:r>
              <a:rPr sz="2000">
                <a:latin typeface="Times New Roman"/>
                <a:cs typeface="Times New Roman"/>
              </a:rPr>
              <a:t>2025-26 scam texts gathered from government advisories and news; team members contributing real 2026 SMS (masked) for the final test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Data partners: </a:t>
            </a:r>
            <a:r>
              <a:rPr sz="2000">
                <a:latin typeface="Times New Roman"/>
                <a:cs typeface="Times New Roman"/>
              </a:rPr>
              <a:t>open research data from the IMC 2025 smishing study and the India Spam SMS collection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5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1AA8B2C5-EAB6-457D-B8D9-FCE4717778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04580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Scam SMS in India imitate real service messages: KYC updates, electricity cut-offs, parcel fees, e-challans and job offers, often in Hindi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Most published detectors learn from a 2011 UK dataset in which "spam" means premium-rate promotions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Our first model (v3) was built that way and flagged 48.9% of genuine Indian messages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Newer smishing datasets hold only user-reported messages, and reports are not verified</a:t>
            </a:r>
          </a:p>
          <a:p>
            <a:pPr>
              <a:spcBef>
                <a:spcPts val="10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Goal: </a:t>
            </a:r>
            <a:r>
              <a:rPr sz="2000">
                <a:latin typeface="Times New Roman"/>
                <a:cs typeface="Times New Roman"/>
              </a:rPr>
              <a:t>separate Indian scam SMS from genuine ones with few false alarms, explain every verdict, and measure it without data leakage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188548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High Level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7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di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" y="1600000"/>
            <a:ext cx="7430916" cy="39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56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Offline (orange): dataset build and training. Online (blue): every request is cleaned, classified, checked by the rules and explained.</a:t>
            </a:r>
          </a:p>
        </p:txBody>
      </p:sp>
    </p:spTree>
    <p:extLst>
      <p:ext uri="{BB962C8B-B14F-4D97-AF65-F5344CB8AC3E}">
        <p14:creationId xmlns:p14="http://schemas.microsoft.com/office/powerpoint/2010/main" val="374383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8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559573" cy="23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4050000"/>
            <a:ext cx="1051560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Features: </a:t>
            </a:r>
            <a:r>
              <a:rPr sz="1700">
                <a:latin typeface="Times New Roman"/>
                <a:cs typeface="Times New Roman"/>
              </a:rPr>
              <a:t>word 1-2-grams and character 2-5-grams (TF-IDF); handles Hindi and spellings like K.Y.C or bl0cked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Classifier: </a:t>
            </a:r>
            <a:r>
              <a:rPr sz="1700">
                <a:latin typeface="Times New Roman"/>
                <a:cs typeface="Times New Roman"/>
              </a:rPr>
              <a:t>logistic regression, p(x) = σ(w·φ(x) + b), C = 16, balanced class weights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Fusion: </a:t>
            </a:r>
            <a:r>
              <a:rPr sz="1700">
                <a:latin typeface="Times New Roman"/>
                <a:cs typeface="Times New Roman"/>
              </a:rPr>
              <a:t>s(x) = σ(clip(logit p, ±4) + 5(E⁺ − E⁻)), capped at 0.15 for genuine alerts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Explanation: </a:t>
            </a:r>
            <a:r>
              <a:rPr sz="1700">
                <a:latin typeface="Times New Roman"/>
                <a:cs typeface="Times New Roman"/>
              </a:rPr>
              <a:t>phrases mapped to hook, pressure, request and cash-out</a:t>
            </a:r>
          </a:p>
        </p:txBody>
      </p:sp>
    </p:spTree>
    <p:extLst>
      <p:ext uri="{BB962C8B-B14F-4D97-AF65-F5344CB8AC3E}">
        <p14:creationId xmlns:p14="http://schemas.microsoft.com/office/powerpoint/2010/main" val="374640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9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55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Front end: </a:t>
            </a:r>
            <a:r>
              <a:rPr sz="1700">
                <a:latin typeface="Times New Roman"/>
                <a:cs typeface="Times New Roman"/>
              </a:rPr>
              <a:t>Next.js 14, React 18, Tailwind CSS; English and Hindi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Back end: </a:t>
            </a:r>
            <a:r>
              <a:rPr sz="1700">
                <a:latin typeface="Times New Roman"/>
                <a:cs typeface="Times New Roman"/>
              </a:rPr>
              <a:t>FastAPI, SQLAlchemy, PostgreSQL, JWT, rate limiting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Model: </a:t>
            </a:r>
            <a:r>
              <a:rPr sz="1700">
                <a:latin typeface="Times New Roman"/>
                <a:cs typeface="Times New Roman"/>
              </a:rPr>
              <a:t>versioned registry; same preprocessing in training and serving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Explanations: </a:t>
            </a:r>
            <a:r>
              <a:rPr sz="1700">
                <a:latin typeface="Times New Roman"/>
                <a:cs typeface="Times New Roman"/>
              </a:rPr>
              <a:t>Scam X-Ray, TrustLens, 52 known patterns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Tools: </a:t>
            </a:r>
            <a:r>
              <a:rPr sz="1700">
                <a:latin typeface="Times New Roman"/>
                <a:cs typeface="Times New Roman"/>
              </a:rPr>
              <a:t>QR, UPI and APK checks, what-if, chat timeline, AI copilot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Quality: </a:t>
            </a:r>
            <a:r>
              <a:rPr sz="1700">
                <a:latin typeface="Times New Roman"/>
                <a:cs typeface="Times New Roman"/>
              </a:rPr>
              <a:t>818 automated tests, CI, daily live check on Render</a:t>
            </a:r>
          </a:p>
        </p:txBody>
      </p:sp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0" y="1750000"/>
            <a:ext cx="4850000" cy="30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00000" y="4900000"/>
            <a:ext cx="48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Full analysis of a scam message</a:t>
            </a:r>
          </a:p>
        </p:txBody>
      </p:sp>
    </p:spTree>
    <p:extLst>
      <p:ext uri="{BB962C8B-B14F-4D97-AF65-F5344CB8AC3E}">
        <p14:creationId xmlns:p14="http://schemas.microsoft.com/office/powerpoint/2010/main" val="193330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Old System vs New System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10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old_vs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00000"/>
            <a:ext cx="4766667" cy="39000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00000" y="1700000"/>
          <a:ext cx="525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000"/>
                <a:gridCol w="1470000"/>
                <a:gridCol w="1470000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Real test set (1,874)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v3 (UCI 2011)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v4 (new)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Accuracy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78.8%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97.1%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Precision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77.8%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Recall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94.0%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F1-score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85.1%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97.7%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48.9%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00000" y="4450000"/>
            <a:ext cx="525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False alarms fell about fifteen times while recall rose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ROC-AUC 0.995; 95% CI of accuracy 96.3-97.8%</a:t>
            </a:r>
          </a:p>
        </p:txBody>
      </p:sp>
    </p:spTree>
    <p:extLst>
      <p:ext uri="{BB962C8B-B14F-4D97-AF65-F5344CB8AC3E}">
        <p14:creationId xmlns:p14="http://schemas.microsoft.com/office/powerpoint/2010/main" val="33998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The data was the problem, not the algorithm: 48.9% false alarms with the 2011 dataset, 34.0% with raw reports, 2.6% with audited data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ScamGuard-IN-2026: 11,399 Indian messages with checked labels, split by scam campaign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Accuracy on real unseen Indian messages rose from 78.8% to 97.1%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Rules explain verdicts; on independent data they do not add accuracy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Live, explainable, Hindi-capable application, free to use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58658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Finish the team's 2026 test set and rerun every experiment on it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Second annotator for the label audit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Kannada, Tamil, Telugu and other Indian languages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Tests against adaptive and LLM-paraphrased scams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Small transformer models under the same campaign split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Android share-to-check, so users need not copy the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954442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2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Title: </a:t>
            </a:r>
            <a:r>
              <a:rPr sz="2000">
                <a:latin typeface="Times New Roman"/>
                <a:cs typeface="Times New Roman"/>
              </a:rPr>
              <a:t>ScamGuard: AI-Based Online Scam and Fraud Detection System</a:t>
            </a:r>
            <a:endParaRPr lang="en-IN"/>
          </a:p>
          <a:p>
            <a:pPr>
              <a:spcBef>
                <a:spcPts val="12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Authors: </a:t>
            </a:r>
            <a:r>
              <a:rPr sz="2000">
                <a:latin typeface="Times New Roman"/>
                <a:cs typeface="Times New Roman"/>
              </a:rPr>
              <a:t>Kayarvizhy N, Priyam Thakur, Bhavya Goyal, Samir Chaudhary, Sana Subodh</a:t>
            </a:r>
          </a:p>
          <a:p>
            <a:pPr>
              <a:spcBef>
                <a:spcPts val="12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Format: </a:t>
            </a:r>
            <a:r>
              <a:rPr sz="2000">
                <a:latin typeface="Times New Roman"/>
                <a:cs typeface="Times New Roman"/>
              </a:rPr>
              <a:t>IEEE conference; to be submitted after guide approval</a:t>
            </a:r>
          </a:p>
          <a:p>
            <a:pPr>
              <a:spcBef>
                <a:spcPts val="1200"/>
              </a:spcBef>
            </a:pPr>
            <a:r>
              <a:rPr b="1" sz="2000">
                <a:solidFill>
                  <a:srgbClr val="1F2A44"/>
                </a:solidFill>
                <a:latin typeface="Times New Roman"/>
                <a:cs typeface="Times New Roman"/>
              </a:rPr>
              <a:t>Contributions: </a:t>
            </a:r>
            <a:r>
              <a:rPr sz="2000">
                <a:latin typeface="Times New Roman"/>
                <a:cs typeface="Times New Roman"/>
              </a:rPr>
              <a:t>audited Indian corpus, measurement of report noise, campaign-aware evaluation, independent test of hybrid rules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13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37386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[1] S. Agarwal et al., "Fishing for smishing," ACM IMC 2025, doi:10.1145/3730567.3764431</a:t>
            </a:r>
            <a:endParaRPr lang="en-IN"/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[2] M. M. A. Pritom et al., "SMS phishing attacks and defenses: A systematic review," arXiv:2604.11429, 2026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[3] T. A. Almeida et al., "Contributions to the study of SMS spam filtering," ACM DocEng 2011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[4] D. Timko and M. L. Rahman, "Smishing Dataset I," ACM CODASPY 2024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[5] P. K. Roy et al., "Deep learning to filter SMS spam," Future Gener. Comput. Syst., 2020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[6] D. Goel et al., "Machine learning driven smishing detection framework," arXiv:2412.09641, 2024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[7] C. Northcutt et al., "Confident learning," J. Artif. Intell. Res., vol. 70, 2021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[8] K. Lee et al., "Deduplicating training data makes language models better," ACL 2022</a:t>
            </a:r>
          </a:p>
          <a:p>
            <a:pPr indent="0" marL="0">
              <a:buNone/>
              <a:spcBef>
                <a:spcPts val="400"/>
              </a:spcBef>
            </a:pPr>
            <a:r>
              <a:rPr sz="1400">
                <a:latin typeface="Times New Roman"/>
                <a:cs typeface="Times New Roman"/>
              </a:rPr>
              <a:t>[9] S. Kapoor and A. Narayanan, "Leakage and the reproducibility crisis in ML-based science," Patterns,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14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409704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>
              <a:latin typeface="Times New Roman"/>
              <a:cs typeface="Times New Roman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ctr"/>
          <a:lstStyle/>
          <a:p>
            <a:pPr marL="0" indent="0" algn="ctr">
              <a:buNone/>
              <a:spcBef>
                <a:spcPts val="600"/>
              </a:spcBef>
            </a:pPr>
            <a:r>
              <a:rPr sz="4800" b="1">
                <a:solidFill>
                  <a:srgbClr val="1F2A44"/>
                </a:solidFill>
                <a:latin typeface="Times New Roman"/>
                <a:cs typeface="Times New Roman"/>
              </a:rPr>
              <a:t>Thank You</a:t>
            </a:r>
            <a:endParaRPr lang="en-IN" dirty="0">
              <a:latin typeface="Times New Roman"/>
              <a:cs typeface="Times New Roman"/>
            </a:endParaRPr>
          </a:p>
          <a:p>
            <a:pPr indent="0" marL="0" algn="ctr">
              <a:buNone/>
              <a:spcBef>
                <a:spcPts val="600"/>
              </a:spcBef>
            </a:pPr>
            <a:r>
              <a:rPr sz="2200">
                <a:latin typeface="Times New Roman"/>
                <a:cs typeface="Times New Roman"/>
              </a:rPr>
              <a:t/>
            </a:r>
          </a:p>
          <a:p>
            <a:pPr indent="0" marL="0" algn="ctr">
              <a:buNone/>
              <a:spcBef>
                <a:spcPts val="600"/>
              </a:spcBef>
            </a:pPr>
            <a:r>
              <a:rPr sz="2200">
                <a:latin typeface="Times New Roman"/>
                <a:cs typeface="Times New Roman"/>
              </a:rPr>
              <a:t>Live demo: scamguard-frontend-r6t7.onrender.com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15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778863572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200"/>
              </a:spcBef>
            </a:pPr>
            <a:r>
              <a:rPr sz="2000">
                <a:latin typeface="Times New Roman"/>
                <a:cs typeface="Times New Roman"/>
              </a:rPr>
              <a:t>Build ScamGuard-IN-2026: an Indian scam-vs-genuine SMS dataset with checked labels and current scam types</a:t>
            </a:r>
            <a:endParaRPr lang="en-IN"/>
          </a:p>
          <a:p>
            <a:pPr>
              <a:spcBef>
                <a:spcPts val="1200"/>
              </a:spcBef>
            </a:pPr>
            <a:r>
              <a:rPr sz="2000">
                <a:latin typeface="Times New Roman"/>
                <a:cs typeface="Times New Roman"/>
              </a:rPr>
              <a:t>Compare lightweight classifiers with a split that keeps every scam campaign on one side only</a:t>
            </a:r>
          </a:p>
          <a:p>
            <a:pPr>
              <a:spcBef>
                <a:spcPts val="1200"/>
              </a:spcBef>
            </a:pPr>
            <a:r>
              <a:rPr sz="2000">
                <a:latin typeface="Times New Roman"/>
                <a:cs typeface="Times New Roman"/>
              </a:rPr>
              <a:t>Combine the best classifier with interpretable intent rules, and test honestly whether the rules add accuracy</a:t>
            </a:r>
          </a:p>
          <a:p>
            <a:pPr>
              <a:spcBef>
                <a:spcPts val="1200"/>
              </a:spcBef>
            </a:pPr>
            <a:r>
              <a:rPr sz="2000">
                <a:latin typeface="Times New Roman"/>
                <a:cs typeface="Times New Roman"/>
              </a:rPr>
              <a:t>Deliver a deployed web application with explanations, safety tools, history and analytics</a:t>
            </a:r>
          </a:p>
          <a:p>
            <a:pPr>
              <a:spcBef>
                <a:spcPts val="1200"/>
              </a:spcBef>
            </a:pPr>
            <a:r>
              <a:rPr sz="2000">
                <a:latin typeface="Times New Roman"/>
                <a:cs typeface="Times New Roman"/>
              </a:rPr>
              <a:t>Keep every reported number reproducible from the repository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Literature Survey and Research Gap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600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9212"/>
                <a:gridCol w="2839212"/>
                <a:gridCol w="2208276"/>
                <a:gridCol w="2628900"/>
              </a:tblGrid>
              <a:tr h="39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Work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Dataset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Reported result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Gap for Indian scams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Almeida et al., 2013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UK SMS Spam Collection (2011)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97.64% accuracy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Old UK promotions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Roy et al., 2020 (CNN, LSTM)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Same corpus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99.44% accuracy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No cross-domain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Goel et al., 2024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UCI subset + 71 messages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96.2% acc., FPR 3.87%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362 smishing messages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Timko and Rahman, 2024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Smishtank, 1,062 reports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No classifier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No genuine class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39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Agarwal et al., IMC 2025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33,869 reports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No classifier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Reports not verified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8200" y="4150000"/>
            <a:ext cx="105156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Gap 1: </a:t>
            </a:r>
            <a:r>
              <a:rPr sz="1800">
                <a:latin typeface="Times New Roman"/>
                <a:cs typeface="Times New Roman"/>
              </a:rPr>
              <a:t>no verified genuine class for Indian SMS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Gap 2: </a:t>
            </a:r>
            <a:r>
              <a:rPr sz="1800">
                <a:latin typeface="Times New Roman"/>
                <a:cs typeface="Times New Roman"/>
              </a:rPr>
              <a:t>user reports used as scam labels without checking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Gap 3: </a:t>
            </a:r>
            <a:r>
              <a:rPr sz="1800">
                <a:latin typeface="Times New Roman"/>
                <a:cs typeface="Times New Roman"/>
              </a:rPr>
              <a:t>random splits leak copies of the same scam campaign into testing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Gap 4: </a:t>
            </a:r>
            <a:r>
              <a:rPr sz="1800">
                <a:latin typeface="Times New Roman"/>
                <a:cs typeface="Times New Roman"/>
              </a:rPr>
              <a:t>rules judged only on the developers' own messages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Dataset: ScamGuard-IN-2026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66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6000"/>
                <a:gridCol w="990000"/>
                <a:gridCol w="990000"/>
                <a:gridCol w="1584000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Source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Genuine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Scam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Use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IMC 2025 reports, India (audited)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963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3,987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train/dev/test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India SMS collection (audited)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1,694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train/dev/test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advisories and news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Synthetic 2025-26 scam types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2,950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1,787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only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5,608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5,791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11,399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50000" y="1650000"/>
            <a:ext cx="375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All 2,922 report groups checked by rule or by hand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19.5% of reports were genuine messages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4,085 near-duplicate campaigns (MinHash)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Split by campaign: test = 1,874 real messages from unseen campaigns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Old UCI 2011 dataset removed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400000"/>
            <a:ext cx="66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Attributes: </a:t>
            </a:r>
            <a:r>
              <a:rPr sz="1600">
                <a:latin typeface="Times New Roman"/>
                <a:cs typeface="Times New Roman"/>
              </a:rPr>
              <a:t>text, label, source, subtype, is_synthetic, campaign, split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Team 2026 SMS (masked) will form the final 2026 test set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Research Findings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labe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50000"/>
            <a:ext cx="4675000" cy="34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00000" y="1600000"/>
            <a:ext cx="565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10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Labels matter most: </a:t>
            </a:r>
            <a:r>
              <a:rPr sz="1800">
                <a:latin typeface="Times New Roman"/>
                <a:cs typeface="Times New Roman"/>
              </a:rPr>
              <a:t>report labels give 34.0% false alarms, audited labels 2.6%</a:t>
            </a:r>
          </a:p>
          <a:p>
            <a:pPr marL="228600" indent="-228600">
              <a:spcBef>
                <a:spcPts val="10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Leakage: </a:t>
            </a:r>
            <a:r>
              <a:rPr sz="1800">
                <a:latin typeface="Times New Roman"/>
                <a:cs typeface="Times New Roman"/>
              </a:rPr>
              <a:t>a random split shows 0.8% false alarms, a campaign split 1.4%</a:t>
            </a:r>
          </a:p>
          <a:p>
            <a:pPr marL="228600" indent="-228600">
              <a:spcBef>
                <a:spcPts val="10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Synthetic data: </a:t>
            </a:r>
            <a:r>
              <a:rPr sz="1800">
                <a:latin typeface="Times New Roman"/>
                <a:cs typeface="Times New Roman"/>
              </a:rPr>
              <a:t>raises recall on new scam types from 35.6% to 82.2%</a:t>
            </a:r>
          </a:p>
          <a:p>
            <a:pPr marL="228600" indent="-228600">
              <a:spcBef>
                <a:spcPts val="1000"/>
              </a:spcBef>
              <a:buChar char="•"/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Rules: </a:t>
            </a:r>
            <a:r>
              <a:rPr sz="1800">
                <a:latin typeface="Times New Roman"/>
                <a:cs typeface="Times New Roman"/>
              </a:rPr>
              <a:t>no accuracy gain on unseen real data (F1 98.1 → 97.7); kept for explanations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Model Comparison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50000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250000"/>
                <a:gridCol w="1250000"/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Word + char TF-IDF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Naive Bayes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95.5%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Logistic regression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Linear SVM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3.9%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3.3%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900000"/>
            <a:ext cx="4500000" cy="2250000"/>
          </a:xfrm>
          <a:prstGeom prst="rect">
            <a:avLst/>
          </a:prstGeom>
        </p:spPr>
      </p:pic>
      <p:pic>
        <p:nvPicPr>
          <p:cNvPr id="10" name="Picture 9" descr="roc_p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0000" y="1700000"/>
            <a:ext cx="5300000" cy="19485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50000" y="4000000"/>
            <a:ext cx="5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Logistic regression chosen: lowest false alarms, readable word weights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Misses 34 of 1,209 scams; flags 21 of 665 genuine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1.6 MB model, about 4 ms per message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Snapshots: Quick Check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2_quick_s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3_quick_genu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Fake KYC SMS: likely scam, trap phrases highlighted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Airtel 1909 notice: looks genuine, with the reason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Snapshots: Analysis and Dashboard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7_analyze_trustle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8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TrustLens: scam journey and what to 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Dashboard: priority findings and recent scans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Snapshots: Tools and Analytics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1_too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10_analyti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Safety tools: QR, before-you-pay, file check, chat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Analytics: verdict share and score trend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374</Words>
  <Application>Microsoft Office PowerPoint</Application>
  <PresentationFormat>Widescreen</PresentationFormat>
  <Paragraphs>83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Title of the Project  Team-Member-1          Team-Member-2        Team-Member-3            Team-Member-4 USN     USN                           USN                                    USN</vt:lpstr>
      <vt:lpstr>OUTLINE</vt:lpstr>
      <vt:lpstr>Note</vt:lpstr>
      <vt:lpstr>Sustainable Development Goals (SDGs) Addressed</vt:lpstr>
      <vt:lpstr>Collaboration</vt:lpstr>
      <vt:lpstr>Problem Statement </vt:lpstr>
      <vt:lpstr>High level Design</vt:lpstr>
      <vt:lpstr>Detailed Design</vt:lpstr>
      <vt:lpstr>Implementation</vt:lpstr>
      <vt:lpstr>Results</vt:lpstr>
      <vt:lpstr>Conclusion</vt:lpstr>
      <vt:lpstr>Future Enhancements</vt:lpstr>
      <vt:lpstr>Papers published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  Team-Member-1          Team-Member-2        Team-Member-3            Team-Member-4 USN     USN                           USN                                    USN</dc:title>
  <dc:creator>UMADEVI V</dc:creator>
  <cp:lastModifiedBy>BMSCECSE</cp:lastModifiedBy>
  <cp:revision>7</cp:revision>
  <dcterms:created xsi:type="dcterms:W3CDTF">2022-11-15T07:48:48Z</dcterms:created>
  <dcterms:modified xsi:type="dcterms:W3CDTF">2025-02-20T06:41:41Z</dcterms:modified>
</cp:coreProperties>
</file>