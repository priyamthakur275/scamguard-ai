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66" r:id="rId5"/>
    <p:sldId id="267" r:id="rId6"/>
    <p:sldId id="259" r:id="rId7"/>
    <p:sldId id="274" r:id="rId22"/>
    <p:sldId id="275" r:id="rId23"/>
    <p:sldId id="260" r:id="rId8"/>
    <p:sldId id="261" r:id="rId9"/>
    <p:sldId id="276" r:id="rId24"/>
    <p:sldId id="262" r:id="rId10"/>
    <p:sldId id="263" r:id="rId11"/>
    <p:sldId id="277" r:id="rId25"/>
    <p:sldId id="278" r:id="rId26"/>
    <p:sldId id="279" r:id="rId27"/>
    <p:sldId id="280" r:id="rId28"/>
    <p:sldId id="271" r:id="rId12"/>
    <p:sldId id="270" r:id="rId13"/>
    <p:sldId id="272" r:id="rId14"/>
    <p:sldId id="273" r:id="rId15"/>
    <p:sldId id="264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0016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222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D7B3DCA-6C69-493F-A03F-730B73AF939C}" type="datetimeFigureOut">
              <a:rPr lang="en-IN" smtClean="0"/>
              <a:t>20-02-2025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B773D98-6EB4-47AB-B8AD-3212471361B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76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B773D98-6EB4-47AB-B8AD-3212471361BA}" type="slidenum">
              <a:rPr lang="en-IN" smtClean="0"/>
              <a:t>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8364956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6D053B-DB25-42F1-B33E-51C5461C46A9}" type="datetime1">
              <a:rPr lang="en-IN" smtClean="0"/>
              <a:t>20-02-2025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Title of the Project                         Department of CSE, BSMCE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705038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96D68-3A98-4768-BEB1-0E39A68F7DAF}" type="datetime1">
              <a:rPr lang="en-IN" smtClean="0"/>
              <a:t>20-02-2025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Title of the Project                         Department of CSE, BSMCE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410690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319B8D-7C8B-4C09-8C81-B7618A26281B}" type="datetime1">
              <a:rPr lang="en-IN" smtClean="0"/>
              <a:t>20-02-2025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Title of the Project                         Department of CSE, BSMCE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632343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021243-2A31-40D0-82A9-4633E98CD668}" type="datetime1">
              <a:rPr lang="en-IN" smtClean="0"/>
              <a:t>20-02-2025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Title of the Project                         Department of CSE, BSMCE 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378774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B2D8B6-BEBE-496B-96D0-368D09DCCB20}" type="datetime1">
              <a:rPr lang="en-IN" smtClean="0"/>
              <a:t>20-02-2025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Title of the Project                         Department of CSE, BSMCE 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383628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F2FCAC-BA60-4A9D-8B57-B43241027BFA}" type="datetime1">
              <a:rPr lang="en-IN" smtClean="0"/>
              <a:t>20-02-2025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Title of the Project                         Department of CSE, BSMCE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699193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82F7E5-E74A-4039-AC79-014909648B60}" type="datetime1">
              <a:rPr lang="en-IN" smtClean="0"/>
              <a:t>20-02-2025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Title of the Project                         Department of CSE, BSMCE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406731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23D454-FC22-4AEF-8FE5-CDB95241981A}" type="datetime1">
              <a:rPr lang="en-IN" smtClean="0"/>
              <a:t>20-02-2025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Title of the Project                         Department of CSE, BSMCE 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557498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8514F6-6C18-4B7B-8FAD-C5CC9F79863A}" type="datetime1">
              <a:rPr lang="en-IN" smtClean="0"/>
              <a:t>20-02-2025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Title of the Project                         Department of CSE, BSMCE 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083314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A17D8-EAAF-4E31-8D25-AF62D001CE1A}" type="datetime1">
              <a:rPr lang="en-IN" smtClean="0"/>
              <a:t>20-02-2025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Title of the Project                         Department of CSE, BSMCE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311083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91BE0C-91C3-4274-B780-21302860085B}" type="datetime1">
              <a:rPr lang="en-IN" smtClean="0"/>
              <a:t>20-02-2025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Title of the Project                         Department of CSE, BSMCE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8846462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764F45-E5F6-4A15-9110-C8AC5BB2A39E}" type="datetime1">
              <a:rPr lang="en-IN" smtClean="0"/>
              <a:t>20-02-2025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IN"/>
              <a:t>Title of the Project                         Department of CSE, BSMCE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0E0BF8-4B7D-46FA-B28A-DDF089F57D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425719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Relationship Id="rId3" Type="http://schemas.openxmlformats.org/officeDocument/2006/relationships/image" Target="../media/image4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Relationship Id="rId3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Relationship Id="rId3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Relationship Id="rId3" Type="http://schemas.openxmlformats.org/officeDocument/2006/relationships/image" Target="../media/image9.jpg"/><Relationship Id="rId4" Type="http://schemas.openxmlformats.org/officeDocument/2006/relationships/image" Target="../media/image10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Relationship Id="rId3" Type="http://schemas.openxmlformats.org/officeDocument/2006/relationships/image" Target="../media/image11.jpg"/><Relationship Id="rId4" Type="http://schemas.openxmlformats.org/officeDocument/2006/relationships/image" Target="../media/image12.jpg"/><Relationship Id="rId5" Type="http://schemas.openxmlformats.org/officeDocument/2006/relationships/image" Target="../media/image13.jpg"/><Relationship Id="rId6" Type="http://schemas.openxmlformats.org/officeDocument/2006/relationships/image" Target="../media/image14.jpg"/><Relationship Id="rId7" Type="http://schemas.openxmlformats.org/officeDocument/2006/relationships/image" Target="../media/image15.jpg"/><Relationship Id="rId8" Type="http://schemas.openxmlformats.org/officeDocument/2006/relationships/image" Target="../media/image16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Autofit/>
          </a:bodyPr>
          <a:lstStyle/>
          <a:p>
            <a:r>
              <a:rPr sz="3000" b="1">
                <a:solidFill>
                  <a:srgbClr val="1F2A44"/>
                </a:solidFill>
              </a:rPr>
              <a:t>ScamGuard: Detecting Scam Messages in Indian SMS with an Audited Dataset and Explainable Machine Learning</a:t>
            </a:r>
          </a:p>
          <a:p>
            <a:pPr>
              <a:spcBef>
                <a:spcPts val="1800"/>
              </a:spcBef>
            </a:pPr>
            <a:r>
              <a:rPr sz="1500"/>
              <a:t>Bhavya Goyal (1BM23CS063)    Priyam Thakur (1BM23CS252)    Samir Chaudhary (1BM23CS294)    Sana Subodh (1BM23CS296)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>
            <a:normAutofit fontScale="92500" lnSpcReduction="20000"/>
          </a:bodyPr>
          <a:lstStyle/>
          <a:p>
            <a:pPr algn="ctr">
              <a:spcBef>
                <a:spcPts val="0"/>
              </a:spcBef>
            </a:pPr>
            <a:r>
              <a:rPr sz="1500"/>
              <a:t>Under the guidance of</a:t>
            </a:r>
            <a:endParaRPr lang="en-IN" sz="2000" dirty="0">
              <a:solidFill>
                <a:prstClr val="black"/>
              </a:solidFill>
            </a:endParaRPr>
          </a:p>
          <a:p>
            <a:pPr algn="ctr">
              <a:spcBef>
                <a:spcPts val="0"/>
              </a:spcBef>
            </a:pPr>
            <a:r>
              <a:rPr b="1" sz="1500">
                <a:solidFill>
                  <a:srgbClr val="1F2A44"/>
                </a:solidFill>
              </a:rPr>
              <a:t>Dr. Kayarvizhy N</a:t>
            </a:r>
            <a:r>
              <a:rPr sz="1500"/>
              <a:t/>
            </a:r>
          </a:p>
          <a:p>
            <a:pPr algn="ctr">
              <a:spcBef>
                <a:spcPts val="0"/>
              </a:spcBef>
            </a:pPr>
            <a:r>
              <a:rPr sz="1500"/>
              <a:t>Professor, Department of Computer Science and Engineering</a:t>
            </a:r>
          </a:p>
          <a:p>
            <a:pPr algn="ctr">
              <a:spcBef>
                <a:spcPts val="0"/>
              </a:spcBef>
            </a:pPr>
            <a:r>
              <a:rPr sz="1500"/>
              <a:t>B.M.S. College of Engineering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ScamGuard  |  Department of CSE, BMSCE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/>
              <a:t>1</a:t>
            </a:fld>
            <a:endParaRPr lang="en-IN"/>
          </a:p>
        </p:txBody>
      </p:sp>
      <p:pic>
        <p:nvPicPr>
          <p:cNvPr id="7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02863" y="0"/>
            <a:ext cx="1163638" cy="1144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20-10-2026</a:t>
            </a:r>
          </a:p>
        </p:txBody>
      </p:sp>
    </p:spTree>
    <p:extLst>
      <p:ext uri="{BB962C8B-B14F-4D97-AF65-F5344CB8AC3E}">
        <p14:creationId xmlns:p14="http://schemas.microsoft.com/office/powerpoint/2010/main" val="20682755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3400">
                <a:solidFill>
                  <a:srgbClr val="1F2A44"/>
                </a:solidFill>
              </a:rPr>
              <a:t>Outline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 lnSpcReduction="10000"/>
          </a:bodyPr>
          <a:lstStyle/>
          <a:p>
            <a:pPr marL="0" indent="0">
              <a:buNone/>
              <a:spcBef>
                <a:spcPts val="400"/>
              </a:spcBef>
            </a:pPr>
            <a:r>
              <a:rPr sz="2200"/>
              <a:t>1.  Problem Statement and Objectives</a:t>
            </a:r>
          </a:p>
          <a:p>
            <a:pPr indent="0" marL="0">
              <a:buNone/>
              <a:spcBef>
                <a:spcPts val="400"/>
              </a:spcBef>
            </a:pPr>
            <a:r>
              <a:rPr sz="2200"/>
              <a:t>2.  Literature Survey and Research Gap</a:t>
            </a:r>
          </a:p>
          <a:p>
            <a:pPr indent="0" marL="0">
              <a:buNone/>
              <a:spcBef>
                <a:spcPts val="400"/>
              </a:spcBef>
            </a:pPr>
            <a:r>
              <a:rPr sz="2200"/>
              <a:t>3.  High Level Design</a:t>
            </a:r>
          </a:p>
          <a:p>
            <a:pPr indent="0" marL="0">
              <a:buNone/>
              <a:spcBef>
                <a:spcPts val="400"/>
              </a:spcBef>
            </a:pPr>
            <a:r>
              <a:rPr sz="2200"/>
              <a:t>4.  Detailed Design and the ScamGuard-IN-2026 Dataset</a:t>
            </a:r>
          </a:p>
          <a:p>
            <a:pPr indent="0" marL="0">
              <a:buNone/>
              <a:spcBef>
                <a:spcPts val="400"/>
              </a:spcBef>
            </a:pPr>
            <a:r>
              <a:rPr sz="2200"/>
              <a:t>5.  Implementation</a:t>
            </a:r>
          </a:p>
          <a:p>
            <a:pPr indent="0" marL="0">
              <a:buNone/>
              <a:spcBef>
                <a:spcPts val="400"/>
              </a:spcBef>
            </a:pPr>
            <a:r>
              <a:rPr sz="2200"/>
              <a:t>6.  Results (tables, graphs, dataset) and Snapshots</a:t>
            </a:r>
          </a:p>
          <a:p>
            <a:pPr indent="0" marL="0">
              <a:buNone/>
              <a:spcBef>
                <a:spcPts val="400"/>
              </a:spcBef>
            </a:pPr>
            <a:r>
              <a:rPr sz="2200"/>
              <a:t>7.  Conclusion and Future Enhancements</a:t>
            </a:r>
          </a:p>
          <a:p>
            <a:pPr indent="0" marL="0">
              <a:buNone/>
              <a:spcBef>
                <a:spcPts val="400"/>
              </a:spcBef>
            </a:pPr>
            <a:r>
              <a:rPr sz="2200"/>
              <a:t>8.  Paper and References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ScamGuard  |  Department of CSE, BMSCE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/>
              <a:t>2</a:t>
            </a:fld>
            <a:endParaRPr lang="en-IN"/>
          </a:p>
        </p:txBody>
      </p:sp>
      <p:pic>
        <p:nvPicPr>
          <p:cNvPr id="6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28362" y="0"/>
            <a:ext cx="1163638" cy="1144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20-10-2026</a:t>
            </a:r>
          </a:p>
        </p:txBody>
      </p:sp>
    </p:spTree>
    <p:extLst>
      <p:ext uri="{BB962C8B-B14F-4D97-AF65-F5344CB8AC3E}">
        <p14:creationId xmlns:p14="http://schemas.microsoft.com/office/powerpoint/2010/main" val="2227209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3400">
                <a:solidFill>
                  <a:srgbClr val="1F2A44"/>
                </a:solidFill>
              </a:rPr>
              <a:t>Sustainable Development Goals Addressed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Bef>
                <a:spcPts val="400"/>
              </a:spcBef>
            </a:pPr>
            <a:r>
              <a:rPr b="1" sz="1800">
                <a:solidFill>
                  <a:srgbClr val="1F2A44"/>
                </a:solidFill>
              </a:rPr>
              <a:t>SDG 16.4 - Reduce illicit financial flows: </a:t>
            </a:r>
            <a:r>
              <a:rPr sz="1800"/>
              <a:t>scam SMS are the entry point of most UPI and banking frauds; ScamGuard stops users before they pay or share an OTP, and points them to 1930 and cybercrime.gov.in</a:t>
            </a:r>
          </a:p>
          <a:p>
            <a:pPr>
              <a:spcBef>
                <a:spcPts val="400"/>
              </a:spcBef>
            </a:pPr>
            <a:r>
              <a:rPr b="1" sz="1800">
                <a:solidFill>
                  <a:srgbClr val="1F2A44"/>
                </a:solidFill>
              </a:rPr>
              <a:t>SDG 8.10 - Access to financial services: </a:t>
            </a:r>
            <a:r>
              <a:rPr sz="1800"/>
              <a:t>digital payments widen access only if people can trust genuine bank and UPI messages; we keep false alarms on genuine messages low</a:t>
            </a:r>
          </a:p>
          <a:p>
            <a:pPr>
              <a:spcBef>
                <a:spcPts val="400"/>
              </a:spcBef>
            </a:pPr>
            <a:r>
              <a:rPr b="1" sz="1800">
                <a:solidFill>
                  <a:srgbClr val="1F2A44"/>
                </a:solidFill>
              </a:rPr>
              <a:t>SDG 9.c - Access to ICT: </a:t>
            </a:r>
            <a:r>
              <a:rPr sz="1800"/>
              <a:t>the detector is 1.6 MB, runs on a free server and answers in about 4 ms, so the service costs users nothing</a:t>
            </a:r>
          </a:p>
          <a:p>
            <a:pPr>
              <a:spcBef>
                <a:spcPts val="400"/>
              </a:spcBef>
            </a:pPr>
            <a:r>
              <a:rPr b="1" sz="1800">
                <a:solidFill>
                  <a:srgbClr val="1F2A44"/>
                </a:solidFill>
              </a:rPr>
              <a:t>SDG 10 - Reduced inequalities: </a:t>
            </a:r>
            <a:r>
              <a:rPr sz="1800"/>
              <a:t>Hindi support and an elder mode for the users who are targeted most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20-10-2026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ScamGuard  |  Department of CSE, BMSCE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/>
              <a:t>4</a:t>
            </a:fld>
            <a:endParaRPr lang="en-IN"/>
          </a:p>
        </p:txBody>
      </p:sp>
      <p:pic>
        <p:nvPicPr>
          <p:cNvPr id="7" name="Picture 1">
            <a:extLst>
              <a:ext uri="{FF2B5EF4-FFF2-40B4-BE49-F238E27FC236}">
                <a16:creationId xmlns:a16="http://schemas.microsoft.com/office/drawing/2014/main" id="{4C58C064-5A26-4ED8-8F7B-4132538C50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28362" y="0"/>
            <a:ext cx="1163638" cy="1144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9632662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3400">
                <a:solidFill>
                  <a:srgbClr val="1F2A44"/>
                </a:solidFill>
              </a:rPr>
              <a:t>Collaboration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Bef>
                <a:spcPts val="400"/>
              </a:spcBef>
            </a:pPr>
            <a:r>
              <a:rPr b="1" sz="1800">
                <a:solidFill>
                  <a:srgbClr val="1F2A44"/>
                </a:solidFill>
              </a:rPr>
              <a:t>Category: </a:t>
            </a:r>
            <a:r>
              <a:rPr sz="1800"/>
              <a:t>Community-oriented and multidisciplinary project</a:t>
            </a:r>
            <a:endParaRPr lang="en-IN" dirty="0"/>
          </a:p>
          <a:p>
            <a:pPr>
              <a:spcBef>
                <a:spcPts val="400"/>
              </a:spcBef>
            </a:pPr>
            <a:r>
              <a:rPr b="1" sz="1800">
                <a:solidFill>
                  <a:srgbClr val="1F2A44"/>
                </a:solidFill>
              </a:rPr>
              <a:t>Community: </a:t>
            </a:r>
            <a:r>
              <a:rPr sz="1800"/>
              <a:t>protects ordinary SMS users, especially first-time digital-payment users and elderly people, from fraud</a:t>
            </a:r>
          </a:p>
          <a:p>
            <a:pPr>
              <a:spcBef>
                <a:spcPts val="400"/>
              </a:spcBef>
            </a:pPr>
            <a:r>
              <a:rPr b="1" sz="1800">
                <a:solidFill>
                  <a:srgbClr val="1F2A44"/>
                </a:solidFill>
              </a:rPr>
              <a:t>Multidisciplinary: </a:t>
            </a:r>
            <a:r>
              <a:rPr sz="1800"/>
              <a:t>machine learning and NLP, cyber security (smishing tactics, URL and APK checks), data curation and annotation, and human-centred design of explanations</a:t>
            </a:r>
          </a:p>
          <a:p>
            <a:pPr>
              <a:spcBef>
                <a:spcPts val="400"/>
              </a:spcBef>
            </a:pPr>
            <a:r>
              <a:rPr b="1" sz="1800">
                <a:solidFill>
                  <a:srgbClr val="1F2A44"/>
                </a:solidFill>
              </a:rPr>
              <a:t>Field work: </a:t>
            </a:r>
            <a:r>
              <a:rPr sz="1800"/>
              <a:t>2025-26 scam texts collected from government advisories and news reports; team members are contributing real SMS received in 2026 (masked) for the final test set</a:t>
            </a:r>
          </a:p>
          <a:p>
            <a:pPr>
              <a:spcBef>
                <a:spcPts val="400"/>
              </a:spcBef>
            </a:pPr>
            <a:r>
              <a:rPr b="1" sz="1800">
                <a:solidFill>
                  <a:srgbClr val="1F2A44"/>
                </a:solidFill>
              </a:rPr>
              <a:t>Data partners: </a:t>
            </a:r>
            <a:r>
              <a:rPr sz="1800"/>
              <a:t>public research data from the IMC 2025 smishing study (UCL / IMDEA Networks) and the India Spam SMS collection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20-10-2026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ScamGuard  |  Department of CSE, BMSCE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/>
              <a:t>5</a:t>
            </a:fld>
            <a:endParaRPr lang="en-IN"/>
          </a:p>
        </p:txBody>
      </p:sp>
      <p:pic>
        <p:nvPicPr>
          <p:cNvPr id="7" name="Picture 1">
            <a:extLst>
              <a:ext uri="{FF2B5EF4-FFF2-40B4-BE49-F238E27FC236}">
                <a16:creationId xmlns:a16="http://schemas.microsoft.com/office/drawing/2014/main" id="{1AA8B2C5-EAB6-457D-B8D9-FCE4717778B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28362" y="0"/>
            <a:ext cx="1163638" cy="1144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5045804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3400">
                <a:solidFill>
                  <a:srgbClr val="1F2A44"/>
                </a:solidFill>
              </a:rPr>
              <a:t>Problem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Bef>
                <a:spcPts val="400"/>
              </a:spcBef>
            </a:pPr>
            <a:r>
              <a:rPr sz="1800"/>
              <a:t>Indian users receive scam SMS that copy real service messages: KYC updates, electricity cut-offs, parcel fees, e-challans, job offers, often in Hindi</a:t>
            </a:r>
            <a:endParaRPr lang="en-IN"/>
          </a:p>
          <a:p>
            <a:pPr>
              <a:spcBef>
                <a:spcPts val="400"/>
              </a:spcBef>
            </a:pPr>
            <a:r>
              <a:rPr sz="1800"/>
              <a:t>Most published detectors are trained on the 2011 UK SMS Spam Collection, where "spam" means premium-rate promotions</a:t>
            </a:r>
          </a:p>
          <a:p>
            <a:pPr>
              <a:spcBef>
                <a:spcPts val="400"/>
              </a:spcBef>
            </a:pPr>
            <a:r>
              <a:rPr sz="1800"/>
              <a:t>Our own first model (v3) was built that way and flagged 48.9% of genuine Indian messages, including Airtel's 1909 spam-reporting notice</a:t>
            </a:r>
          </a:p>
          <a:p>
            <a:pPr>
              <a:spcBef>
                <a:spcPts val="400"/>
              </a:spcBef>
            </a:pPr>
            <a:r>
              <a:rPr sz="1800"/>
              <a:t>New public smishing datasets contain only messages users reported, with no genuine class, and reports are not verified</a:t>
            </a:r>
          </a:p>
          <a:p>
            <a:pPr>
              <a:spcBef>
                <a:spcPts val="400"/>
              </a:spcBef>
            </a:pPr>
            <a:r>
              <a:rPr b="1" sz="1800">
                <a:solidFill>
                  <a:srgbClr val="1F2A44"/>
                </a:solidFill>
              </a:rPr>
              <a:t>Problem: </a:t>
            </a:r>
            <a:r>
              <a:rPr sz="1800"/>
              <a:t>build and evaluate a detector that separates Indian scam SMS from genuine ones with few false alarms, explains each verdict, and is measured without data leakage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ScamGuard  |  Department of CSE, BMSCE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/>
              <a:t>6</a:t>
            </a:fld>
            <a:endParaRPr lang="en-IN"/>
          </a:p>
        </p:txBody>
      </p:sp>
      <p:pic>
        <p:nvPicPr>
          <p:cNvPr id="6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28362" y="19050"/>
            <a:ext cx="1163638" cy="1144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20-10-2026</a:t>
            </a:r>
          </a:p>
        </p:txBody>
      </p:sp>
    </p:spTree>
    <p:extLst>
      <p:ext uri="{BB962C8B-B14F-4D97-AF65-F5344CB8AC3E}">
        <p14:creationId xmlns:p14="http://schemas.microsoft.com/office/powerpoint/2010/main" val="18854803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3400">
                <a:solidFill>
                  <a:srgbClr val="1F2A44"/>
                </a:solidFill>
              </a:rPr>
              <a:t>High Level Design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ScamGuard  |  Department of CSE, BMSCE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/>
              <a:t>7</a:t>
            </a:fld>
            <a:endParaRPr lang="en-IN"/>
          </a:p>
        </p:txBody>
      </p:sp>
      <p:pic>
        <p:nvPicPr>
          <p:cNvPr id="6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28362" y="19050"/>
            <a:ext cx="1163638" cy="1144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20-10-2026</a:t>
            </a:r>
          </a:p>
        </p:txBody>
      </p:sp>
      <p:pic>
        <p:nvPicPr>
          <p:cNvPr id="8" name="Picture 7" descr="dia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0000" y="1500000"/>
            <a:ext cx="7219529" cy="3650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38200" y="5300000"/>
            <a:ext cx="105156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400"/>
              <a:t>Offline: dataset build and training produce a versioned model (orange). Online: every request runs cleaning, the classifier, the intent rules and the explanation in-process (blue).</a:t>
            </a:r>
          </a:p>
        </p:txBody>
      </p:sp>
    </p:spTree>
    <p:extLst>
      <p:ext uri="{BB962C8B-B14F-4D97-AF65-F5344CB8AC3E}">
        <p14:creationId xmlns:p14="http://schemas.microsoft.com/office/powerpoint/2010/main" val="37438358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3400">
                <a:solidFill>
                  <a:srgbClr val="1F2A44"/>
                </a:solidFill>
              </a:rPr>
              <a:t>Detailed Design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ScamGuard  |  Department of CSE, BMSCE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/>
              <a:t>8</a:t>
            </a:fld>
            <a:endParaRPr lang="en-IN"/>
          </a:p>
        </p:txBody>
      </p:sp>
      <p:pic>
        <p:nvPicPr>
          <p:cNvPr id="6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28362" y="19050"/>
            <a:ext cx="1163638" cy="1144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20-10-2026</a:t>
            </a:r>
          </a:p>
        </p:txBody>
      </p:sp>
      <p:pic>
        <p:nvPicPr>
          <p:cNvPr id="8" name="Picture 7" descr="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0000" y="1450000"/>
            <a:ext cx="9327385" cy="2300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38200" y="3850000"/>
            <a:ext cx="10515600" cy="2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1500">
                <a:solidFill>
                  <a:srgbClr val="1F2A44"/>
                </a:solidFill>
              </a:rPr>
              <a:t>Features: </a:t>
            </a:r>
            <a:r>
              <a:rPr sz="1500"/>
              <a:t>word 1-2-grams + character 2-5-grams (TF-IDF, 35,196 features); handles Hindi and spellings like K.Y.C, bl0cked</a:t>
            </a:r>
          </a:p>
          <a:p>
            <a:pPr>
              <a:spcBef>
                <a:spcPts val="300"/>
              </a:spcBef>
            </a:pPr>
            <a:r>
              <a:rPr b="1" sz="1500">
                <a:solidFill>
                  <a:srgbClr val="1F2A44"/>
                </a:solidFill>
              </a:rPr>
              <a:t>Classifier: </a:t>
            </a:r>
            <a:r>
              <a:rPr sz="1500"/>
              <a:t>logistic regression, C = 16, balanced class weights: p(x) = sigmoid(w . phi(x) + b)</a:t>
            </a:r>
          </a:p>
          <a:p>
            <a:pPr>
              <a:spcBef>
                <a:spcPts val="300"/>
              </a:spcBef>
            </a:pPr>
            <a:r>
              <a:rPr b="1" sz="1500">
                <a:solidFill>
                  <a:srgbClr val="1F2A44"/>
                </a:solidFill>
              </a:rPr>
              <a:t>Fusion: </a:t>
            </a:r>
            <a:r>
              <a:rPr sz="1500"/>
              <a:t>s(x) = sigmoid(clip(logit p, +/-4) + 5 (E+ - E-)); capped at 0.15 for genuine alerts and notices</a:t>
            </a:r>
          </a:p>
          <a:p>
            <a:pPr>
              <a:spcBef>
                <a:spcPts val="300"/>
              </a:spcBef>
            </a:pPr>
            <a:r>
              <a:rPr b="1" sz="1500">
                <a:solidFill>
                  <a:srgbClr val="1F2A44"/>
                </a:solidFill>
              </a:rPr>
              <a:t>Explanation: </a:t>
            </a:r>
            <a:r>
              <a:rPr sz="1500"/>
              <a:t>matched phrases mapped to hook, pressure, request and cash-out; how a genuine message differs</a:t>
            </a:r>
          </a:p>
        </p:txBody>
      </p:sp>
    </p:spTree>
    <p:extLst>
      <p:ext uri="{BB962C8B-B14F-4D97-AF65-F5344CB8AC3E}">
        <p14:creationId xmlns:p14="http://schemas.microsoft.com/office/powerpoint/2010/main" val="37464025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3400">
                <a:solidFill>
                  <a:srgbClr val="1F2A44"/>
                </a:solidFill>
              </a:rPr>
              <a:t>Implementation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ScamGuard  |  Department of CSE, BMSCE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/>
              <a:t>9</a:t>
            </a:fld>
            <a:endParaRPr lang="en-IN"/>
          </a:p>
        </p:txBody>
      </p:sp>
      <p:pic>
        <p:nvPicPr>
          <p:cNvPr id="6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28362" y="19050"/>
            <a:ext cx="1163638" cy="1144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20-10-2026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8200" y="1600000"/>
            <a:ext cx="5600000" cy="4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1500">
                <a:solidFill>
                  <a:srgbClr val="1F2A44"/>
                </a:solidFill>
              </a:rPr>
              <a:t>Front end: </a:t>
            </a:r>
            <a:r>
              <a:rPr sz="1500"/>
              <a:t>Next.js 14, React 18, Tailwind CSS, Recharts; English and Hindi</a:t>
            </a:r>
          </a:p>
          <a:p>
            <a:pPr>
              <a:spcBef>
                <a:spcPts val="300"/>
              </a:spcBef>
            </a:pPr>
            <a:r>
              <a:rPr b="1" sz="1500">
                <a:solidFill>
                  <a:srgbClr val="1F2A44"/>
                </a:solidFill>
              </a:rPr>
              <a:t>Back end: </a:t>
            </a:r>
            <a:r>
              <a:rPr sz="1500"/>
              <a:t>FastAPI, SQLAlchemy, Alembic, PostgreSQL (SQLite locally), rate limiting, JWT auth</a:t>
            </a:r>
          </a:p>
          <a:p>
            <a:pPr>
              <a:spcBef>
                <a:spcPts val="300"/>
              </a:spcBef>
            </a:pPr>
            <a:r>
              <a:rPr b="1" sz="1500">
                <a:solidFill>
                  <a:srgbClr val="1F2A44"/>
                </a:solidFill>
              </a:rPr>
              <a:t>ML: </a:t>
            </a:r>
            <a:r>
              <a:rPr sz="1500"/>
              <a:t>scikit-learn model registry; same preprocessing in training and serving</a:t>
            </a:r>
          </a:p>
          <a:p>
            <a:pPr>
              <a:spcBef>
                <a:spcPts val="300"/>
              </a:spcBef>
            </a:pPr>
            <a:r>
              <a:rPr b="1" sz="1500">
                <a:solidFill>
                  <a:srgbClr val="1F2A44"/>
                </a:solidFill>
              </a:rPr>
              <a:t>Explainability: </a:t>
            </a:r>
            <a:r>
              <a:rPr sz="1500"/>
              <a:t>Scam X-Ray, TrustLens, retrieval of 52 known patterns</a:t>
            </a:r>
          </a:p>
          <a:p>
            <a:pPr>
              <a:spcBef>
                <a:spcPts val="300"/>
              </a:spcBef>
            </a:pPr>
            <a:r>
              <a:rPr b="1" sz="1500">
                <a:solidFill>
                  <a:srgbClr val="1F2A44"/>
                </a:solidFill>
              </a:rPr>
              <a:t>Tools: </a:t>
            </a:r>
            <a:r>
              <a:rPr sz="1500"/>
              <a:t>QR check, before-you-pay UPI check, APK file check, what-if, chat timeline, AI copilot (Gemini, capped)</a:t>
            </a:r>
          </a:p>
          <a:p>
            <a:pPr>
              <a:spcBef>
                <a:spcPts val="300"/>
              </a:spcBef>
            </a:pPr>
            <a:r>
              <a:rPr b="1" sz="1500">
                <a:solidFill>
                  <a:srgbClr val="1F2A44"/>
                </a:solidFill>
              </a:rPr>
              <a:t>Quality: </a:t>
            </a:r>
            <a:r>
              <a:rPr sz="1500"/>
              <a:t>818 automated tests, GitHub Actions CI, daily live-site check</a:t>
            </a:r>
          </a:p>
          <a:p>
            <a:pPr>
              <a:spcBef>
                <a:spcPts val="300"/>
              </a:spcBef>
            </a:pPr>
            <a:r>
              <a:rPr b="1" sz="1500">
                <a:solidFill>
                  <a:srgbClr val="1F2A44"/>
                </a:solidFill>
              </a:rPr>
              <a:t>Deployment: </a:t>
            </a:r>
            <a:r>
              <a:rPr sz="1500"/>
              <a:t>Render (live)</a:t>
            </a:r>
          </a:p>
        </p:txBody>
      </p:sp>
      <p:pic>
        <p:nvPicPr>
          <p:cNvPr id="9" name="Picture 8" descr="05_analyze_resul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0000" y="1650000"/>
            <a:ext cx="4700000" cy="2937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33067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3400">
                <a:solidFill>
                  <a:srgbClr val="1F2A44"/>
                </a:solidFill>
              </a:rPr>
              <a:t>Results: Old System vs New System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ScamGuard  |  Department of CSE, BMSCE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/>
              <a:t>10</a:t>
            </a:fld>
            <a:endParaRPr lang="en-IN"/>
          </a:p>
        </p:txBody>
      </p:sp>
      <p:pic>
        <p:nvPicPr>
          <p:cNvPr id="6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28362" y="19050"/>
            <a:ext cx="1163638" cy="1144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20-10-2026</a:t>
            </a:r>
          </a:p>
        </p:txBody>
      </p:sp>
      <p:pic>
        <p:nvPicPr>
          <p:cNvPr id="8" name="Picture 7" descr="old_vs_n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550000"/>
            <a:ext cx="4766667" cy="3900000"/>
          </a:xfrm>
          <a:prstGeom prst="rect">
            <a:avLst/>
          </a:prstGeom>
        </p:spPr>
      </p:pic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000000" y="1650000"/>
          <a:ext cx="5300000" cy="27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66666"/>
                <a:gridCol w="1766666"/>
                <a:gridCol w="1766668"/>
              </a:tblGrid>
              <a:tr h="450000">
                <a:tc>
                  <a:txBody>
                    <a:bodyPr/>
                    <a:lstStyle/>
                    <a:p>
                      <a:r>
                        <a:rPr sz="1400" b="1"/>
                        <a:t>Real test set (1,874)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/>
                        <a:t>v3 (UCI 2011)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/>
                        <a:t>v4 (new)</a:t>
                      </a:r>
                    </a:p>
                  </a:txBody>
                  <a:tcPr/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1400"/>
                        <a:t>Accuracy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/>
                        <a:t>78.8%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/>
                        <a:t>97.1%</a:t>
                      </a:r>
                    </a:p>
                  </a:txBody>
                  <a:tcPr/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1400"/>
                        <a:t>Precision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/>
                        <a:t>77.8%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/>
                        <a:t>98.2%</a:t>
                      </a:r>
                    </a:p>
                  </a:txBody>
                  <a:tcPr/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1400"/>
                        <a:t>Recall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/>
                        <a:t>94.0%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/>
                        <a:t>97.2%</a:t>
                      </a:r>
                    </a:p>
                  </a:txBody>
                  <a:tcPr/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1400"/>
                        <a:t>F1-score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/>
                        <a:t>85.1%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/>
                        <a:t>97.7%</a:t>
                      </a:r>
                    </a:p>
                  </a:txBody>
                  <a:tcPr/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1400"/>
                        <a:t>False alarms on genuine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/>
                        <a:t>48.9%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/>
                        <a:t>3.2%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000000" y="4600000"/>
            <a:ext cx="5300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500"/>
              <a:t>False alarms fell about 15 times while recall rose. ROC-AUC 0.995; 95% CI of accuracy 96.3-97.8%.</a:t>
            </a:r>
          </a:p>
        </p:txBody>
      </p:sp>
    </p:spTree>
    <p:extLst>
      <p:ext uri="{BB962C8B-B14F-4D97-AF65-F5344CB8AC3E}">
        <p14:creationId xmlns:p14="http://schemas.microsoft.com/office/powerpoint/2010/main" val="3399883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3400">
                <a:solidFill>
                  <a:srgbClr val="1F2A44"/>
                </a:solidFill>
              </a:rP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Bef>
                <a:spcPts val="400"/>
              </a:spcBef>
            </a:pPr>
            <a:r>
              <a:rPr sz="1900"/>
              <a:t>The data was the problem, not the algorithm: the 2011 corpus gave 48.9% false alarms on Indian messages, raw reports gave 34.0%, audited data gives 2.6%</a:t>
            </a:r>
            <a:endParaRPr lang="en-IN"/>
          </a:p>
          <a:p>
            <a:pPr>
              <a:spcBef>
                <a:spcPts val="400"/>
              </a:spcBef>
            </a:pPr>
            <a:r>
              <a:rPr sz="1900"/>
              <a:t>ScamGuard-IN-2026: 11,399 Indian messages with checked labels, split by scam campaign, old dataset removed</a:t>
            </a:r>
          </a:p>
          <a:p>
            <a:pPr>
              <a:spcBef>
                <a:spcPts val="400"/>
              </a:spcBef>
            </a:pPr>
            <a:r>
              <a:rPr sz="1900"/>
              <a:t>Deployed accuracy on real unseen Indian messages rose from 78.8% to 97.1%</a:t>
            </a:r>
          </a:p>
          <a:p>
            <a:pPr>
              <a:spcBef>
                <a:spcPts val="400"/>
              </a:spcBef>
            </a:pPr>
            <a:r>
              <a:rPr sz="1900"/>
              <a:t>Rules are kept for phrase-level explanations; on independent data they do not add accuracy</a:t>
            </a:r>
          </a:p>
          <a:p>
            <a:pPr>
              <a:spcBef>
                <a:spcPts val="400"/>
              </a:spcBef>
            </a:pPr>
            <a:r>
              <a:rPr sz="1900"/>
              <a:t>Live, explainable, Hindi-capable application that answers in milliseconds at zero cost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ScamGuard  |  Department of CSE, BMSCE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/>
              <a:t>11</a:t>
            </a:fld>
            <a:endParaRPr lang="en-IN"/>
          </a:p>
        </p:txBody>
      </p:sp>
      <p:pic>
        <p:nvPicPr>
          <p:cNvPr id="6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28362" y="19050"/>
            <a:ext cx="1163638" cy="1144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20-10-2026</a:t>
            </a:r>
          </a:p>
        </p:txBody>
      </p:sp>
    </p:spTree>
    <p:extLst>
      <p:ext uri="{BB962C8B-B14F-4D97-AF65-F5344CB8AC3E}">
        <p14:creationId xmlns:p14="http://schemas.microsoft.com/office/powerpoint/2010/main" val="5865835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3400">
                <a:solidFill>
                  <a:srgbClr val="1F2A44"/>
                </a:solidFill>
              </a:rPr>
              <a:t>Future Enhancements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Bef>
                <a:spcPts val="400"/>
              </a:spcBef>
            </a:pPr>
            <a:r>
              <a:rPr sz="2000"/>
              <a:t>Finish the team-contributed 2026 test set and re-run every experiment on it</a:t>
            </a:r>
            <a:endParaRPr lang="en-IN"/>
          </a:p>
          <a:p>
            <a:pPr>
              <a:spcBef>
                <a:spcPts val="400"/>
              </a:spcBef>
            </a:pPr>
            <a:r>
              <a:rPr sz="2000"/>
              <a:t>Second annotator for the label audit and an agreement score</a:t>
            </a:r>
          </a:p>
          <a:p>
            <a:pPr>
              <a:spcBef>
                <a:spcPts val="400"/>
              </a:spcBef>
            </a:pPr>
            <a:r>
              <a:rPr sz="2000"/>
              <a:t>Kannada, Tamil, Telugu and other Indian languages</a:t>
            </a:r>
          </a:p>
          <a:p>
            <a:pPr>
              <a:spcBef>
                <a:spcPts val="400"/>
              </a:spcBef>
            </a:pPr>
            <a:r>
              <a:rPr sz="2000"/>
              <a:t>Tests against adaptive attackers and LLM-paraphrased scams</a:t>
            </a:r>
          </a:p>
          <a:p>
            <a:pPr>
              <a:spcBef>
                <a:spcPts val="400"/>
              </a:spcBef>
            </a:pPr>
            <a:r>
              <a:rPr sz="2000"/>
              <a:t>Small transformer models under the same campaign split, within free-server memory</a:t>
            </a:r>
          </a:p>
          <a:p>
            <a:pPr>
              <a:spcBef>
                <a:spcPts val="400"/>
              </a:spcBef>
            </a:pPr>
            <a:r>
              <a:rPr sz="2000"/>
              <a:t>Android share-to-check so users do not have to copy the message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ScamGuard  |  Department of CSE, BMSCE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/>
              <a:t>12</a:t>
            </a:fld>
            <a:endParaRPr lang="en-IN"/>
          </a:p>
        </p:txBody>
      </p:sp>
      <p:pic>
        <p:nvPicPr>
          <p:cNvPr id="6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28362" y="19050"/>
            <a:ext cx="1163638" cy="1144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20-10-2026</a:t>
            </a:r>
          </a:p>
        </p:txBody>
      </p:sp>
    </p:spTree>
    <p:extLst>
      <p:ext uri="{BB962C8B-B14F-4D97-AF65-F5344CB8AC3E}">
        <p14:creationId xmlns:p14="http://schemas.microsoft.com/office/powerpoint/2010/main" val="39544422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3400">
                <a:solidFill>
                  <a:srgbClr val="1F2A44"/>
                </a:solidFill>
              </a:rPr>
              <a:t>Paper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Bef>
                <a:spcPts val="400"/>
              </a:spcBef>
            </a:pPr>
            <a:r>
              <a:rPr b="1" sz="1900">
                <a:solidFill>
                  <a:srgbClr val="1F2A44"/>
                </a:solidFill>
              </a:rPr>
              <a:t>Title: </a:t>
            </a:r>
            <a:r>
              <a:rPr sz="1900"/>
              <a:t>Reported Is Not Scam: An Audited, Campaign-Split Corpus and a Hybrid Detector for Indian SMS Fraud</a:t>
            </a:r>
            <a:endParaRPr lang="en-IN"/>
          </a:p>
          <a:p>
            <a:pPr>
              <a:spcBef>
                <a:spcPts val="400"/>
              </a:spcBef>
            </a:pPr>
            <a:r>
              <a:rPr b="1" sz="1900">
                <a:solidFill>
                  <a:srgbClr val="1F2A44"/>
                </a:solidFill>
              </a:rPr>
              <a:t>Authors: </a:t>
            </a:r>
            <a:r>
              <a:rPr sz="1900"/>
              <a:t>Kayarvizhy N, Priyam Thakur, Bhavya Goyal, Samir Chaudhary, Sana Subodh</a:t>
            </a:r>
          </a:p>
          <a:p>
            <a:pPr>
              <a:spcBef>
                <a:spcPts val="400"/>
              </a:spcBef>
            </a:pPr>
            <a:r>
              <a:rPr b="1" sz="1900">
                <a:solidFill>
                  <a:srgbClr val="1F2A44"/>
                </a:solidFill>
              </a:rPr>
              <a:t>Status: </a:t>
            </a:r>
            <a:r>
              <a:rPr sz="1900"/>
              <a:t>manuscript prepared in IEEE conference format; to be submitted after guide approval</a:t>
            </a:r>
          </a:p>
          <a:p>
            <a:pPr>
              <a:spcBef>
                <a:spcPts val="400"/>
              </a:spcBef>
            </a:pPr>
            <a:r>
              <a:rPr b="1" sz="1900">
                <a:solidFill>
                  <a:srgbClr val="1F2A44"/>
                </a:solidFill>
              </a:rPr>
              <a:t>Contributions: </a:t>
            </a:r>
            <a:r>
              <a:rPr sz="1900"/>
              <a:t>audited Indian corpus, measurement of report noise, campaign-aware evaluation, independent assessment of hybrid rules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ScamGuard  |  Department of CSE, BMSCE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/>
              <a:t>13</a:t>
            </a:fld>
            <a:endParaRPr lang="en-IN"/>
          </a:p>
        </p:txBody>
      </p:sp>
      <p:pic>
        <p:nvPicPr>
          <p:cNvPr id="6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28362" y="19050"/>
            <a:ext cx="1163638" cy="1144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20-10-2026</a:t>
            </a:r>
          </a:p>
        </p:txBody>
      </p:sp>
    </p:spTree>
    <p:extLst>
      <p:ext uri="{BB962C8B-B14F-4D97-AF65-F5344CB8AC3E}">
        <p14:creationId xmlns:p14="http://schemas.microsoft.com/office/powerpoint/2010/main" val="337386134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3400">
                <a:solidFill>
                  <a:srgbClr val="1F2A44"/>
                </a:solidFill>
              </a:rPr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Bef>
                <a:spcPts val="200"/>
              </a:spcBef>
            </a:pPr>
            <a:r>
              <a:rPr sz="1300"/>
              <a:t>S. Agarwal, A. Papasavva, G. Suarez-Tangil, M. Vasek, "Fishing for smishing," ACM IMC 2025, doi:10.1145/3730567.3764431</a:t>
            </a:r>
            <a:endParaRPr lang="en-IN"/>
          </a:p>
          <a:p>
            <a:pPr>
              <a:spcBef>
                <a:spcPts val="200"/>
              </a:spcBef>
            </a:pPr>
            <a:r>
              <a:rPr sz="1300"/>
              <a:t>M. M. A. Pritom et al., "SMS phishing attacks and defenses: A systematic review," arXiv:2604.11429, 2026</a:t>
            </a:r>
          </a:p>
          <a:p>
            <a:pPr>
              <a:spcBef>
                <a:spcPts val="200"/>
              </a:spcBef>
            </a:pPr>
            <a:r>
              <a:rPr sz="1300"/>
              <a:t>T. A. Almeida, J. M. Gomez Hidalgo, A. Yamakami, "Contributions to the study of SMS spam filtering," ACM DocEng 2011</a:t>
            </a:r>
          </a:p>
          <a:p>
            <a:pPr>
              <a:spcBef>
                <a:spcPts val="200"/>
              </a:spcBef>
            </a:pPr>
            <a:r>
              <a:rPr sz="1300"/>
              <a:t>D. Timko, M. L. Rahman, "Smishing Dataset I," ACM CODASPY 2024, doi:10.1145/3626232.3653282</a:t>
            </a:r>
          </a:p>
          <a:p>
            <a:pPr>
              <a:spcBef>
                <a:spcPts val="200"/>
              </a:spcBef>
            </a:pPr>
            <a:r>
              <a:rPr sz="1300"/>
              <a:t>P. K. Roy, J. P. Singh, S. Banerjee, "Deep learning to filter SMS spam," FGCS, 2020</a:t>
            </a:r>
          </a:p>
          <a:p>
            <a:pPr>
              <a:spcBef>
                <a:spcPts val="200"/>
              </a:spcBef>
            </a:pPr>
            <a:r>
              <a:rPr sz="1300"/>
              <a:t>D. Goel et al., "Machine learning driven smishing detection framework," arXiv:2412.09641, 2024</a:t>
            </a:r>
          </a:p>
          <a:p>
            <a:pPr>
              <a:spcBef>
                <a:spcPts val="200"/>
              </a:spcBef>
            </a:pPr>
            <a:r>
              <a:rPr sz="1300"/>
              <a:t>C. Northcutt, L. Jiang, I. Chuang, "Confident learning," JAIR 70, 2021, doi:10.1613/jair.1.12125</a:t>
            </a:r>
          </a:p>
          <a:p>
            <a:pPr>
              <a:spcBef>
                <a:spcPts val="200"/>
              </a:spcBef>
            </a:pPr>
            <a:r>
              <a:rPr sz="1300"/>
              <a:t>K. Lee et al., "Deduplicating training data makes language models better," ACL 2022</a:t>
            </a:r>
          </a:p>
          <a:p>
            <a:pPr>
              <a:spcBef>
                <a:spcPts val="200"/>
              </a:spcBef>
            </a:pPr>
            <a:r>
              <a:rPr sz="1300"/>
              <a:t>S. Kapoor, A. Narayanan, "Leakage and the reproducibility crisis in ML-based science," Patterns, 2023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ScamGuard  |  Department of CSE, BMSCE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/>
              <a:t>14</a:t>
            </a:fld>
            <a:endParaRPr lang="en-IN"/>
          </a:p>
        </p:txBody>
      </p:sp>
      <p:pic>
        <p:nvPicPr>
          <p:cNvPr id="6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28362" y="19050"/>
            <a:ext cx="1163638" cy="1144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20-10-2026</a:t>
            </a:r>
          </a:p>
        </p:txBody>
      </p:sp>
    </p:spTree>
    <p:extLst>
      <p:ext uri="{BB962C8B-B14F-4D97-AF65-F5344CB8AC3E}">
        <p14:creationId xmlns:p14="http://schemas.microsoft.com/office/powerpoint/2010/main" val="409704980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marL="0" indent="0" algn="ctr">
              <a:buNone/>
              <a:spcBef>
                <a:spcPts val="400"/>
              </a:spcBef>
            </a:pPr>
            <a:r>
              <a:rPr sz="2000"/>
              <a:t/>
            </a:r>
            <a:endParaRPr lang="en-IN" dirty="0"/>
          </a:p>
          <a:p>
            <a:pPr indent="0" marL="0" algn="ctr">
              <a:buNone/>
              <a:spcBef>
                <a:spcPts val="400"/>
              </a:spcBef>
            </a:pPr>
            <a:r>
              <a:rPr sz="2000"/>
              <a:t/>
            </a:r>
          </a:p>
          <a:p>
            <a:pPr indent="0" marL="0" algn="ctr">
              <a:buNone/>
              <a:spcBef>
                <a:spcPts val="400"/>
              </a:spcBef>
            </a:pPr>
            <a:r>
              <a:rPr sz="4400" b="1"/>
              <a:t>Thank You</a:t>
            </a:r>
          </a:p>
          <a:p>
            <a:pPr indent="0" marL="0" algn="ctr">
              <a:buNone/>
              <a:spcBef>
                <a:spcPts val="400"/>
              </a:spcBef>
            </a:pPr>
            <a:r>
              <a:rPr sz="2000"/>
              <a:t/>
            </a:r>
          </a:p>
          <a:p>
            <a:pPr indent="0" marL="0" algn="ctr">
              <a:buNone/>
              <a:spcBef>
                <a:spcPts val="400"/>
              </a:spcBef>
            </a:pPr>
            <a:r>
              <a:rPr sz="2000"/>
              <a:t>Live: https://scamguard-frontend-r6t7.onrender.com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ScamGuard  |  Department of CSE, BMSCE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/>
              <a:t>15</a:t>
            </a:fld>
            <a:endParaRPr lang="en-IN"/>
          </a:p>
        </p:txBody>
      </p:sp>
      <p:pic>
        <p:nvPicPr>
          <p:cNvPr id="6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28362" y="19050"/>
            <a:ext cx="1163638" cy="1144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20-10-2026</a:t>
            </a:r>
          </a:p>
        </p:txBody>
      </p:sp>
    </p:spTree>
    <p:extLst>
      <p:ext uri="{BB962C8B-B14F-4D97-AF65-F5344CB8AC3E}">
        <p14:creationId xmlns:p14="http://schemas.microsoft.com/office/powerpoint/2010/main" val="3778863572"/>
      </p:ext>
    </p:extLst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3400">
                <a:solidFill>
                  <a:srgbClr val="1F2A44"/>
                </a:solidFill>
              </a:rPr>
              <a:t>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Bef>
                <a:spcPts val="400"/>
              </a:spcBef>
            </a:pPr>
            <a:r>
              <a:rPr sz="2000"/>
              <a:t>Build ScamGuard-IN-2026, an Indian scam-vs-genuine SMS dataset with checked labels and the latest scam types</a:t>
            </a:r>
            <a:endParaRPr lang="en-IN"/>
          </a:p>
          <a:p>
            <a:pPr>
              <a:spcBef>
                <a:spcPts val="400"/>
              </a:spcBef>
            </a:pPr>
            <a:r>
              <a:rPr sz="2000"/>
              <a:t>Evaluate lightweight classifiers with a split that keeps every scam campaign on one side only</a:t>
            </a:r>
          </a:p>
          <a:p>
            <a:pPr>
              <a:spcBef>
                <a:spcPts val="400"/>
              </a:spcBef>
            </a:pPr>
            <a:r>
              <a:rPr sz="2000"/>
              <a:t>Combine the best classifier with interpretable intent rules, and measure honestly whether the rules add accuracy</a:t>
            </a:r>
          </a:p>
          <a:p>
            <a:pPr>
              <a:spcBef>
                <a:spcPts val="400"/>
              </a:spcBef>
            </a:pPr>
            <a:r>
              <a:rPr sz="2000"/>
              <a:t>Deliver it in a deployed web application with explanations, safety tools, history and analytics</a:t>
            </a:r>
          </a:p>
          <a:p>
            <a:pPr>
              <a:spcBef>
                <a:spcPts val="400"/>
              </a:spcBef>
            </a:pPr>
            <a:r>
              <a:rPr sz="2000"/>
              <a:t>Make every number reproducible from the repository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ScamGuard  |  Department of CSE, BMSCE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/>
              <a:t>6</a:t>
            </a:fld>
            <a:endParaRPr lang="en-IN"/>
          </a:p>
        </p:txBody>
      </p:sp>
      <p:pic>
        <p:nvPicPr>
          <p:cNvPr id="6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28362" y="19050"/>
            <a:ext cx="1163638" cy="1144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20-10-2026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3400">
                <a:solidFill>
                  <a:srgbClr val="1F2A44"/>
                </a:solidFill>
              </a:rPr>
              <a:t>Literature Survey and Research Gap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ScamGuard  |  Department of CSE, BMSCE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/>
              <a:t>6</a:t>
            </a:fld>
            <a:endParaRPr lang="en-IN"/>
          </a:p>
        </p:txBody>
      </p:sp>
      <p:pic>
        <p:nvPicPr>
          <p:cNvPr id="6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28362" y="19050"/>
            <a:ext cx="1163638" cy="1144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20-10-2026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38200" y="1600000"/>
          <a:ext cx="10515600" cy="27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/>
                <a:gridCol w="2628900"/>
                <a:gridCol w="2628900"/>
                <a:gridCol w="2628900"/>
              </a:tblGrid>
              <a:tr h="385714">
                <a:tc>
                  <a:txBody>
                    <a:bodyPr/>
                    <a:lstStyle/>
                    <a:p>
                      <a:r>
                        <a:rPr sz="1300" b="1"/>
                        <a:t>Work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/>
                        <a:t>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/>
                        <a:t>Reported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/>
                        <a:t>Gap for Indian scams</a:t>
                      </a:r>
                    </a:p>
                  </a:txBody>
                  <a:tcPr/>
                </a:tc>
              </a:tr>
              <a:tr h="385714">
                <a:tc>
                  <a:txBody>
                    <a:bodyPr/>
                    <a:lstStyle/>
                    <a:p>
                      <a:r>
                        <a:rPr sz="1300"/>
                        <a:t>Almeida et al., 2013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SMS Spam Collection (UK, 2011)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97.64% acc. (SVM)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Old UK promotions</a:t>
                      </a:r>
                    </a:p>
                  </a:txBody>
                  <a:tcPr/>
                </a:tc>
              </a:tr>
              <a:tr h="385714">
                <a:tc>
                  <a:txBody>
                    <a:bodyPr/>
                    <a:lstStyle/>
                    <a:p>
                      <a:r>
                        <a:rPr sz="1300"/>
                        <a:t>Roy et al., 2020 (CNN/LSTM)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Same corpus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99.44% acc.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No cross-domain test</a:t>
                      </a:r>
                    </a:p>
                  </a:txBody>
                  <a:tcPr/>
                </a:tc>
              </a:tr>
              <a:tr h="385714">
                <a:tc>
                  <a:txBody>
                    <a:bodyPr/>
                    <a:lstStyle/>
                    <a:p>
                      <a:r>
                        <a:rPr sz="1300"/>
                        <a:t>Goel et al., 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UCI subset + 71 msgs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96.2% acc., FPR 3.87%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362 smishing messages</a:t>
                      </a:r>
                    </a:p>
                  </a:txBody>
                  <a:tcPr/>
                </a:tc>
              </a:tr>
              <a:tr h="385714">
                <a:tc>
                  <a:txBody>
                    <a:bodyPr/>
                    <a:lstStyle/>
                    <a:p>
                      <a:r>
                        <a:rPr sz="1300"/>
                        <a:t>Timko &amp; Rahman, 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Smishtank, 1,062 reports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No classifier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No genuine class</a:t>
                      </a:r>
                    </a:p>
                  </a:txBody>
                  <a:tcPr/>
                </a:tc>
              </a:tr>
              <a:tr h="385714">
                <a:tc>
                  <a:txBody>
                    <a:bodyPr/>
                    <a:lstStyle/>
                    <a:p>
                      <a:r>
                        <a:rPr sz="1300"/>
                        <a:t>Agarwal et al., IMC 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33,869 reports, 66 languages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No classifier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Reports unverified</a:t>
                      </a:r>
                    </a:p>
                  </a:txBody>
                  <a:tcPr/>
                </a:tc>
              </a:tr>
              <a:tr h="385716">
                <a:tc>
                  <a:txBody>
                    <a:bodyPr/>
                    <a:lstStyle/>
                    <a:p>
                      <a:r>
                        <a:rPr sz="1300"/>
                        <a:t>Pritom et al., 2026 (review)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119 papers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Datasets limited in scale and time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838200" y="4450000"/>
            <a:ext cx="10515600" cy="1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1500">
                <a:solidFill>
                  <a:srgbClr val="1F2A44"/>
                </a:solidFill>
              </a:rPr>
              <a:t>Gap 1: </a:t>
            </a:r>
            <a:r>
              <a:rPr sz="1500"/>
              <a:t>no verified genuine class for Indian SMS</a:t>
            </a:r>
          </a:p>
          <a:p>
            <a:pPr>
              <a:spcBef>
                <a:spcPts val="300"/>
              </a:spcBef>
            </a:pPr>
            <a:r>
              <a:rPr b="1" sz="1500">
                <a:solidFill>
                  <a:srgbClr val="1F2A44"/>
                </a:solidFill>
              </a:rPr>
              <a:t>Gap 2: </a:t>
            </a:r>
            <a:r>
              <a:rPr sz="1500"/>
              <a:t>user reports used as scam labels without checking</a:t>
            </a:r>
          </a:p>
          <a:p>
            <a:pPr>
              <a:spcBef>
                <a:spcPts val="300"/>
              </a:spcBef>
            </a:pPr>
            <a:r>
              <a:rPr b="1" sz="1500">
                <a:solidFill>
                  <a:srgbClr val="1F2A44"/>
                </a:solidFill>
              </a:rPr>
              <a:t>Gap 3: </a:t>
            </a:r>
            <a:r>
              <a:rPr sz="1500"/>
              <a:t>random splits leak copies of the same scam campaign into the test set</a:t>
            </a:r>
          </a:p>
          <a:p>
            <a:pPr>
              <a:spcBef>
                <a:spcPts val="300"/>
              </a:spcBef>
            </a:pPr>
            <a:r>
              <a:rPr b="1" sz="1500">
                <a:solidFill>
                  <a:srgbClr val="1F2A44"/>
                </a:solidFill>
              </a:rPr>
              <a:t>Gap 4: </a:t>
            </a:r>
            <a:r>
              <a:rPr sz="1500"/>
              <a:t>hybrid rules judged only on the developers' own messages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3400">
                <a:solidFill>
                  <a:srgbClr val="1F2A44"/>
                </a:solidFill>
              </a:rPr>
              <a:t>Dataset: ScamGuard-IN-2026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ScamGuard  |  Department of CSE, BMSCE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/>
              <a:t>6</a:t>
            </a:fld>
            <a:endParaRPr lang="en-IN"/>
          </a:p>
        </p:txBody>
      </p:sp>
      <p:pic>
        <p:nvPicPr>
          <p:cNvPr id="6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28362" y="19050"/>
            <a:ext cx="1163638" cy="1144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20-10-2026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38200" y="1550000"/>
          <a:ext cx="6300000" cy="26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5000"/>
                <a:gridCol w="1575000"/>
                <a:gridCol w="1575000"/>
                <a:gridCol w="1575000"/>
              </a:tblGrid>
              <a:tr h="433333">
                <a:tc>
                  <a:txBody>
                    <a:bodyPr/>
                    <a:lstStyle/>
                    <a:p>
                      <a:r>
                        <a:rPr sz="1200" b="1"/>
                        <a:t>Source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/>
                        <a:t>Genuine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/>
                        <a:t>Scam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/>
                        <a:t>Use</a:t>
                      </a:r>
                    </a:p>
                  </a:txBody>
                  <a:tcPr/>
                </a:tc>
              </a:tr>
              <a:tr h="433333">
                <a:tc>
                  <a:txBody>
                    <a:bodyPr/>
                    <a:lstStyle/>
                    <a:p>
                      <a:r>
                        <a:rPr sz="1200"/>
                        <a:t>IMC 2025 smishing reports, India subset (audited)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963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3,987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train / dev / test</a:t>
                      </a:r>
                    </a:p>
                  </a:txBody>
                  <a:tcPr/>
                </a:tc>
              </a:tr>
              <a:tr h="433333">
                <a:tc>
                  <a:txBody>
                    <a:bodyPr/>
                    <a:lstStyle/>
                    <a:p>
                      <a:r>
                        <a:rPr sz="1200"/>
                        <a:t>India SMS collection (audited)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1,694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train / dev / test</a:t>
                      </a:r>
                    </a:p>
                  </a:txBody>
                  <a:tcPr/>
                </a:tc>
              </a:tr>
              <a:tr h="433333">
                <a:tc>
                  <a:txBody>
                    <a:bodyPr/>
                    <a:lstStyle/>
                    <a:p>
                      <a:r>
                        <a:rPr sz="1200"/>
                        <a:t>2025-26 advisories and news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test only</a:t>
                      </a:r>
                    </a:p>
                  </a:txBody>
                  <a:tcPr/>
                </a:tc>
              </a:tr>
              <a:tr h="433333">
                <a:tc>
                  <a:txBody>
                    <a:bodyPr/>
                    <a:lstStyle/>
                    <a:p>
                      <a:r>
                        <a:rPr sz="1200"/>
                        <a:t>Synthetic 2025-26 scam types and Indian formats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2,950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1,787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train only</a:t>
                      </a:r>
                    </a:p>
                  </a:txBody>
                  <a:tcPr/>
                </a:tc>
              </a:tr>
              <a:tr h="433335">
                <a:tc>
                  <a:txBody>
                    <a:bodyPr/>
                    <a:lstStyle/>
                    <a:p>
                      <a:r>
                        <a:rPr sz="1200" b="1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/>
                        <a:t>5,608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/>
                        <a:t>5,791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/>
                        <a:t>11,399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350000" y="1600000"/>
            <a:ext cx="4000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1500">
                <a:solidFill>
                  <a:srgbClr val="1F2A44"/>
                </a:solidFill>
              </a:rPr>
              <a:t>Label audit: </a:t>
            </a:r>
            <a:r>
              <a:rPr sz="1500"/>
              <a:t>all 2,922 report groups checked by rule or by hand</a:t>
            </a:r>
          </a:p>
          <a:p>
            <a:pPr>
              <a:spcBef>
                <a:spcPts val="300"/>
              </a:spcBef>
            </a:pPr>
            <a:r>
              <a:rPr sz="1500"/>
              <a:t>19.5% of reports were genuine bank alerts, OTPs, order updates or ads</a:t>
            </a:r>
          </a:p>
          <a:p>
            <a:pPr>
              <a:spcBef>
                <a:spcPts val="300"/>
              </a:spcBef>
            </a:pPr>
            <a:r>
              <a:rPr b="1" sz="1500">
                <a:solidFill>
                  <a:srgbClr val="1F2A44"/>
                </a:solidFill>
              </a:rPr>
              <a:t>Campaigns: </a:t>
            </a:r>
            <a:r>
              <a:rPr sz="1500"/>
              <a:t>4,085 near-duplicate groups (MinHash); largest has 128 messages</a:t>
            </a:r>
          </a:p>
          <a:p>
            <a:pPr>
              <a:spcBef>
                <a:spcPts val="300"/>
              </a:spcBef>
            </a:pPr>
            <a:r>
              <a:rPr b="1" sz="1500">
                <a:solidFill>
                  <a:srgbClr val="1F2A44"/>
                </a:solidFill>
              </a:rPr>
              <a:t>Split by campaign: </a:t>
            </a:r>
            <a:r>
              <a:rPr sz="1500"/>
              <a:t>test = 1,874 real messages from unseen campaigns</a:t>
            </a:r>
          </a:p>
          <a:p>
            <a:pPr>
              <a:spcBef>
                <a:spcPts val="300"/>
              </a:spcBef>
            </a:pPr>
            <a:r>
              <a:rPr sz="1500"/>
              <a:t>Old UCI 2011 dataset removed completely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5150000"/>
            <a:ext cx="6300000" cy="1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1400">
                <a:solidFill>
                  <a:srgbClr val="1F2A44"/>
                </a:solidFill>
              </a:rPr>
              <a:t>Attributes: </a:t>
            </a:r>
            <a:r>
              <a:rPr sz="1400"/>
              <a:t>text, label, source, subtype, is_synthetic, campaign, split</a:t>
            </a:r>
          </a:p>
          <a:p>
            <a:pPr>
              <a:spcBef>
                <a:spcPts val="300"/>
              </a:spcBef>
            </a:pPr>
            <a:r>
              <a:rPr sz="1400"/>
              <a:t>Team-contributed 2026 SMS (masked) will form the final 2026 test set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3400">
                <a:solidFill>
                  <a:srgbClr val="1F2A44"/>
                </a:solidFill>
              </a:rPr>
              <a:t>Results: Research Findings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ScamGuard  |  Department of CSE, BMSCE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/>
              <a:t>6</a:t>
            </a:fld>
            <a:endParaRPr lang="en-IN"/>
          </a:p>
        </p:txBody>
      </p:sp>
      <p:pic>
        <p:nvPicPr>
          <p:cNvPr id="6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28362" y="19050"/>
            <a:ext cx="1163638" cy="1144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20-10-2026</a:t>
            </a:r>
          </a:p>
        </p:txBody>
      </p:sp>
      <p:pic>
        <p:nvPicPr>
          <p:cNvPr id="8" name="Picture 7" descr="label_aud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550000"/>
            <a:ext cx="4537500" cy="3300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750000" y="1550000"/>
            <a:ext cx="5600000" cy="4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1500">
                <a:solidFill>
                  <a:srgbClr val="1F2A44"/>
                </a:solidFill>
              </a:rPr>
              <a:t>Labels matter most: </a:t>
            </a:r>
            <a:r>
              <a:rPr sz="1500"/>
              <a:t>training on report labels gives 34.0% false alarms vs 2.6% with audited labels (McNemar p &lt; 1e-30)</a:t>
            </a:r>
          </a:p>
          <a:p>
            <a:pPr>
              <a:spcBef>
                <a:spcPts val="300"/>
              </a:spcBef>
            </a:pPr>
            <a:r>
              <a:rPr b="1" sz="1500">
                <a:solidFill>
                  <a:srgbClr val="1F2A44"/>
                </a:solidFill>
              </a:rPr>
              <a:t>Leakage: </a:t>
            </a:r>
            <a:r>
              <a:rPr sz="1500"/>
              <a:t>a random split put 793 test messages next to their campaign copies; it showed 0.8% false alarms vs 1.4% with a campaign split</a:t>
            </a:r>
          </a:p>
          <a:p>
            <a:pPr>
              <a:spcBef>
                <a:spcPts val="300"/>
              </a:spcBef>
            </a:pPr>
            <a:r>
              <a:rPr b="1" sz="1500">
                <a:solidFill>
                  <a:srgbClr val="1F2A44"/>
                </a:solidFill>
              </a:rPr>
              <a:t>Synthetic data: </a:t>
            </a:r>
            <a:r>
              <a:rPr sz="1500"/>
              <a:t>real-only data caught 35.6% of new-type scams; adding synthetic data raised challenge F1 from 51.2% to 90.2%</a:t>
            </a:r>
          </a:p>
          <a:p>
            <a:pPr>
              <a:spcBef>
                <a:spcPts val="300"/>
              </a:spcBef>
            </a:pPr>
            <a:r>
              <a:rPr b="1" sz="1500">
                <a:solidFill>
                  <a:srgbClr val="1F2A44"/>
                </a:solidFill>
              </a:rPr>
              <a:t>Rules: </a:t>
            </a:r>
            <a:r>
              <a:rPr sz="1500"/>
              <a:t>on real unseen data the hand-set rules did not add accuracy (F1 98.1 to 97.7); learned weights did slightly better (98.3); rules kept for explanations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3400">
                <a:solidFill>
                  <a:srgbClr val="1F2A44"/>
                </a:solidFill>
              </a:rPr>
              <a:t>Results: Model Comparison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ScamGuard  |  Department of CSE, BMSCE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/>
              <a:t>6</a:t>
            </a:fld>
            <a:endParaRPr lang="en-IN"/>
          </a:p>
        </p:txBody>
      </p:sp>
      <p:pic>
        <p:nvPicPr>
          <p:cNvPr id="6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28362" y="19050"/>
            <a:ext cx="1163638" cy="1144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20-10-2026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38200" y="1600000"/>
          <a:ext cx="5000000" cy="23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66666"/>
                <a:gridCol w="1666666"/>
                <a:gridCol w="1666668"/>
              </a:tblGrid>
              <a:tr h="460000">
                <a:tc>
                  <a:txBody>
                    <a:bodyPr/>
                    <a:lstStyle/>
                    <a:p>
                      <a:r>
                        <a:rPr sz="1400" b="1"/>
                        <a:t>Model (word + char TF-IDF)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/>
                        <a:t>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/>
                        <a:t>False alarms</a:t>
                      </a:r>
                    </a:p>
                  </a:txBody>
                  <a:tcPr/>
                </a:tc>
              </a:tr>
              <a:tr h="460000">
                <a:tc>
                  <a:txBody>
                    <a:bodyPr/>
                    <a:lstStyle/>
                    <a:p>
                      <a:r>
                        <a:rPr sz="1400"/>
                        <a:t>Naive Bayes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/>
                        <a:t>95.5%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/>
                        <a:t>6.5%</a:t>
                      </a:r>
                    </a:p>
                  </a:txBody>
                  <a:tcPr/>
                </a:tc>
              </a:tr>
              <a:tr h="460000">
                <a:tc>
                  <a:txBody>
                    <a:bodyPr/>
                    <a:lstStyle/>
                    <a:p>
                      <a:r>
                        <a:rPr sz="1400"/>
                        <a:t>Logistic regression (chosen)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/>
                        <a:t>98.1%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/>
                        <a:t>2.6%</a:t>
                      </a:r>
                    </a:p>
                  </a:txBody>
                  <a:tcPr/>
                </a:tc>
              </a:tr>
              <a:tr h="460000">
                <a:tc>
                  <a:txBody>
                    <a:bodyPr/>
                    <a:lstStyle/>
                    <a:p>
                      <a:r>
                        <a:rPr sz="1400"/>
                        <a:t>Linear SVM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/>
                        <a:t>98.2%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/>
                        <a:t>3.9%</a:t>
                      </a:r>
                    </a:p>
                  </a:txBody>
                  <a:tcPr/>
                </a:tc>
              </a:tr>
              <a:tr h="460000">
                <a:tc>
                  <a:txBody>
                    <a:bodyPr/>
                    <a:lstStyle/>
                    <a:p>
                      <a:r>
                        <a:rPr sz="1400"/>
                        <a:t>Random forest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/>
                        <a:t>97.6%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/>
                        <a:t>3.3%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9" name="Picture 8" descr="confus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4050000"/>
            <a:ext cx="4200000" cy="2100000"/>
          </a:xfrm>
          <a:prstGeom prst="rect">
            <a:avLst/>
          </a:prstGeom>
        </p:spPr>
      </p:pic>
      <p:pic>
        <p:nvPicPr>
          <p:cNvPr id="10" name="Picture 9" descr="roc_p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00000" y="1700000"/>
            <a:ext cx="5350000" cy="19669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000000" y="4000000"/>
            <a:ext cx="5350000" cy="2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400"/>
              <a:t>Deployed system misses 34 of 1,209 scams and flags 21 of 665 genuine messages</a:t>
            </a:r>
          </a:p>
          <a:p>
            <a:pPr>
              <a:spcBef>
                <a:spcPts val="300"/>
              </a:spcBef>
            </a:pPr>
            <a:r>
              <a:rPr sz="1400"/>
              <a:t>Threshold 0.9 cuts false alarms to 0.8% at 92.5% recall</a:t>
            </a:r>
          </a:p>
          <a:p>
            <a:pPr>
              <a:spcBef>
                <a:spcPts val="300"/>
              </a:spcBef>
            </a:pPr>
            <a:r>
              <a:rPr sz="1400"/>
              <a:t>1.6 MB model, 2.7 s training, about 4 ms per message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3400">
                <a:solidFill>
                  <a:srgbClr val="1F2A44"/>
                </a:solidFill>
              </a:rPr>
              <a:t>Snapshots: Quick Check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ScamGuard  |  Department of CSE, BMSCE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/>
              <a:t>6</a:t>
            </a:fld>
            <a:endParaRPr lang="en-IN"/>
          </a:p>
        </p:txBody>
      </p:sp>
      <p:pic>
        <p:nvPicPr>
          <p:cNvPr id="6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28362" y="19050"/>
            <a:ext cx="1163638" cy="1144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20-10-2026</a:t>
            </a:r>
          </a:p>
        </p:txBody>
      </p:sp>
      <p:pic>
        <p:nvPicPr>
          <p:cNvPr id="8" name="Picture 7" descr="02_quick_sca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550000"/>
            <a:ext cx="5150000" cy="3218750"/>
          </a:xfrm>
          <a:prstGeom prst="rect">
            <a:avLst/>
          </a:prstGeom>
        </p:spPr>
      </p:pic>
      <p:pic>
        <p:nvPicPr>
          <p:cNvPr id="9" name="Picture 8" descr="03_quick_genuin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00000" y="1550000"/>
            <a:ext cx="5150000" cy="321875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38200" y="4900000"/>
            <a:ext cx="515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300"/>
              <a:t>Fake KYC message: Likely scam, 100% fraud index, trap phrases highlighted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00000" y="4900000"/>
            <a:ext cx="515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300"/>
              <a:t>Airtel 1909 notice: Looks genuine, 1% fraud index, with the reason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3400">
                <a:solidFill>
                  <a:srgbClr val="1F2A44"/>
                </a:solidFill>
              </a:rPr>
              <a:t>Snapshots: Analysis, Dashboard and Tools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ScamGuard  |  Department of CSE, BMSCE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/>
              <a:t>6</a:t>
            </a:fld>
            <a:endParaRPr lang="en-IN"/>
          </a:p>
        </p:txBody>
      </p:sp>
      <p:pic>
        <p:nvPicPr>
          <p:cNvPr id="6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28362" y="19050"/>
            <a:ext cx="1163638" cy="1144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20-10-2026</a:t>
            </a:r>
          </a:p>
        </p:txBody>
      </p:sp>
      <p:pic>
        <p:nvPicPr>
          <p:cNvPr id="8" name="Picture 7" descr="07_analyze_trustlen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650000"/>
            <a:ext cx="3400000" cy="2125000"/>
          </a:xfrm>
          <a:prstGeom prst="rect">
            <a:avLst/>
          </a:prstGeom>
        </p:spPr>
      </p:pic>
      <p:pic>
        <p:nvPicPr>
          <p:cNvPr id="9" name="Picture 8" descr="08_dashboard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88200" y="1650000"/>
            <a:ext cx="3400000" cy="2125000"/>
          </a:xfrm>
          <a:prstGeom prst="rect">
            <a:avLst/>
          </a:prstGeom>
        </p:spPr>
      </p:pic>
      <p:pic>
        <p:nvPicPr>
          <p:cNvPr id="10" name="Picture 9" descr="11_tools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38200" y="1650000"/>
            <a:ext cx="3400000" cy="2125000"/>
          </a:xfrm>
          <a:prstGeom prst="rect">
            <a:avLst/>
          </a:prstGeom>
        </p:spPr>
      </p:pic>
      <p:pic>
        <p:nvPicPr>
          <p:cNvPr id="11" name="Picture 10" descr="10_analytics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200" y="3950000"/>
            <a:ext cx="3400000" cy="2125000"/>
          </a:xfrm>
          <a:prstGeom prst="rect">
            <a:avLst/>
          </a:prstGeom>
        </p:spPr>
      </p:pic>
      <p:pic>
        <p:nvPicPr>
          <p:cNvPr id="12" name="Picture 11" descr="09_history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88200" y="3950000"/>
            <a:ext cx="3400000" cy="2125000"/>
          </a:xfrm>
          <a:prstGeom prst="rect">
            <a:avLst/>
          </a:prstGeom>
        </p:spPr>
      </p:pic>
      <p:pic>
        <p:nvPicPr>
          <p:cNvPr id="13" name="Picture 12" descr="12_simulator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38200" y="3950000"/>
            <a:ext cx="3400000" cy="2125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</TotalTime>
  <Words>374</Words>
  <Application>Microsoft Office PowerPoint</Application>
  <PresentationFormat>Widescreen</PresentationFormat>
  <Paragraphs>83</Paragraphs>
  <Slides>15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Calibri</vt:lpstr>
      <vt:lpstr>Calibri Light</vt:lpstr>
      <vt:lpstr>Office Theme</vt:lpstr>
      <vt:lpstr>Title of the Project  Team-Member-1          Team-Member-2        Team-Member-3            Team-Member-4 USN     USN                           USN                                    USN</vt:lpstr>
      <vt:lpstr>OUTLINE</vt:lpstr>
      <vt:lpstr>Note</vt:lpstr>
      <vt:lpstr>Sustainable Development Goals (SDGs) Addressed</vt:lpstr>
      <vt:lpstr>Collaboration</vt:lpstr>
      <vt:lpstr>Problem Statement </vt:lpstr>
      <vt:lpstr>High level Design</vt:lpstr>
      <vt:lpstr>Detailed Design</vt:lpstr>
      <vt:lpstr>Implementation</vt:lpstr>
      <vt:lpstr>Results</vt:lpstr>
      <vt:lpstr>Conclusion</vt:lpstr>
      <vt:lpstr>Future Enhancements</vt:lpstr>
      <vt:lpstr>Papers published </vt:lpstr>
      <vt:lpstr>References 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 of the Project  Team-Member-1          Team-Member-2        Team-Member-3            Team-Member-4 USN     USN                           USN                                    USN</dc:title>
  <dc:creator>UMADEVI V</dc:creator>
  <cp:lastModifiedBy>BMSCECSE</cp:lastModifiedBy>
  <cp:revision>7</cp:revision>
  <dcterms:created xsi:type="dcterms:W3CDTF">2022-11-15T07:48:48Z</dcterms:created>
  <dcterms:modified xsi:type="dcterms:W3CDTF">2025-02-20T06:41:41Z</dcterms:modified>
</cp:coreProperties>
</file>